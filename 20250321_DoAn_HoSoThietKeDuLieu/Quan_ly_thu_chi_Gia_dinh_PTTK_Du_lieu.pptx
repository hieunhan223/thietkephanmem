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71" r:id="rId3"/>
    <p:sldId id="277" r:id="rId4"/>
    <p:sldId id="278" r:id="rId5"/>
    <p:sldId id="279" r:id="rId6"/>
    <p:sldId id="280" r:id="rId7"/>
  </p:sldIdLst>
  <p:sldSz cx="9144000" cy="6858000" type="screen4x3"/>
  <p:notesSz cx="6858000" cy="9144000"/>
  <p:defaultTextStyle>
    <a:defPPr>
      <a:defRPr lang="vi-VN"/>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E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24" autoAdjust="0"/>
  </p:normalViewPr>
  <p:slideViewPr>
    <p:cSldViewPr>
      <p:cViewPr varScale="1">
        <p:scale>
          <a:sx n="90" d="100"/>
          <a:sy n="90" d="100"/>
        </p:scale>
        <p:origin x="143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0CE7A2-3166-4A56-B5D5-30FE3BA04F26}" type="datetimeFigureOut">
              <a:rPr lang="vi-VN" smtClean="0"/>
              <a:t>22/03/2025</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6F55E1-8FA1-4431-8CCD-46EFB1EBE07A}" type="slidenum">
              <a:rPr lang="vi-VN" smtClean="0"/>
              <a:t>‹#›</a:t>
            </a:fld>
            <a:endParaRPr lang="vi-VN"/>
          </a:p>
        </p:txBody>
      </p:sp>
    </p:spTree>
    <p:extLst>
      <p:ext uri="{BB962C8B-B14F-4D97-AF65-F5344CB8AC3E}">
        <p14:creationId xmlns:p14="http://schemas.microsoft.com/office/powerpoint/2010/main" val="760161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C6F55E1-8FA1-4431-8CCD-46EFB1EBE07A}" type="slidenum">
              <a:rPr lang="vi-VN" smtClean="0"/>
              <a:t>1</a:t>
            </a:fld>
            <a:endParaRPr lang="vi-VN"/>
          </a:p>
        </p:txBody>
      </p:sp>
    </p:spTree>
    <p:extLst>
      <p:ext uri="{BB962C8B-B14F-4D97-AF65-F5344CB8AC3E}">
        <p14:creationId xmlns:p14="http://schemas.microsoft.com/office/powerpoint/2010/main" val="2400912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C6F55E1-8FA1-4431-8CCD-46EFB1EBE07A}" type="slidenum">
              <a:rPr lang="vi-VN" smtClean="0"/>
              <a:t>2</a:t>
            </a:fld>
            <a:endParaRPr lang="vi-VN"/>
          </a:p>
        </p:txBody>
      </p:sp>
    </p:spTree>
    <p:extLst>
      <p:ext uri="{BB962C8B-B14F-4D97-AF65-F5344CB8AC3E}">
        <p14:creationId xmlns:p14="http://schemas.microsoft.com/office/powerpoint/2010/main" val="227271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C6F55E1-8FA1-4431-8CCD-46EFB1EBE07A}" type="slidenum">
              <a:rPr lang="vi-VN" smtClean="0"/>
              <a:t>3</a:t>
            </a:fld>
            <a:endParaRPr lang="vi-VN"/>
          </a:p>
        </p:txBody>
      </p:sp>
    </p:spTree>
    <p:extLst>
      <p:ext uri="{BB962C8B-B14F-4D97-AF65-F5344CB8AC3E}">
        <p14:creationId xmlns:p14="http://schemas.microsoft.com/office/powerpoint/2010/main" val="510808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C6F55E1-8FA1-4431-8CCD-46EFB1EBE07A}" type="slidenum">
              <a:rPr lang="vi-VN" smtClean="0"/>
              <a:t>4</a:t>
            </a:fld>
            <a:endParaRPr lang="vi-VN"/>
          </a:p>
        </p:txBody>
      </p:sp>
    </p:spTree>
    <p:extLst>
      <p:ext uri="{BB962C8B-B14F-4D97-AF65-F5344CB8AC3E}">
        <p14:creationId xmlns:p14="http://schemas.microsoft.com/office/powerpoint/2010/main" val="1324244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C6F55E1-8FA1-4431-8CCD-46EFB1EBE07A}" type="slidenum">
              <a:rPr lang="vi-VN" smtClean="0"/>
              <a:t>5</a:t>
            </a:fld>
            <a:endParaRPr lang="vi-VN"/>
          </a:p>
        </p:txBody>
      </p:sp>
    </p:spTree>
    <p:extLst>
      <p:ext uri="{BB962C8B-B14F-4D97-AF65-F5344CB8AC3E}">
        <p14:creationId xmlns:p14="http://schemas.microsoft.com/office/powerpoint/2010/main" val="2794332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AF162-4AE6-81B4-67CC-88B8B85BE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D354F-D320-9285-251B-7D74CA4FE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BB4A2-7759-6172-CB28-F8A64C6921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599DF9-7143-B3EF-B75A-AA199FC41C85}"/>
              </a:ext>
            </a:extLst>
          </p:cNvPr>
          <p:cNvSpPr>
            <a:spLocks noGrp="1"/>
          </p:cNvSpPr>
          <p:nvPr>
            <p:ph type="sldNum" sz="quarter" idx="10"/>
          </p:nvPr>
        </p:nvSpPr>
        <p:spPr/>
        <p:txBody>
          <a:bodyPr/>
          <a:lstStyle/>
          <a:p>
            <a:fld id="{1C6F55E1-8FA1-4431-8CCD-46EFB1EBE07A}" type="slidenum">
              <a:rPr lang="vi-VN" smtClean="0"/>
              <a:t>6</a:t>
            </a:fld>
            <a:endParaRPr lang="vi-VN"/>
          </a:p>
        </p:txBody>
      </p:sp>
    </p:spTree>
    <p:extLst>
      <p:ext uri="{BB962C8B-B14F-4D97-AF65-F5344CB8AC3E}">
        <p14:creationId xmlns:p14="http://schemas.microsoft.com/office/powerpoint/2010/main" val="542339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vi-V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vi-VN"/>
          </a:p>
        </p:txBody>
      </p:sp>
      <p:sp>
        <p:nvSpPr>
          <p:cNvPr id="4" name="Date Placeholder 3"/>
          <p:cNvSpPr>
            <a:spLocks noGrp="1"/>
          </p:cNvSpPr>
          <p:nvPr>
            <p:ph type="dt" sz="half" idx="10"/>
          </p:nvPr>
        </p:nvSpPr>
        <p:spPr/>
        <p:txBody>
          <a:bodyPr/>
          <a:lstStyle>
            <a:lvl1pPr>
              <a:defRPr/>
            </a:lvl1pPr>
          </a:lstStyle>
          <a:p>
            <a:pPr>
              <a:defRPr/>
            </a:pPr>
            <a:fld id="{AA5C9DDF-8451-47A8-9545-685FC9F14A61}" type="datetime1">
              <a:rPr lang="vi-VN" smtClean="0"/>
              <a:t>22/03/2025</a:t>
            </a:fld>
            <a:endParaRPr lang="vi-VN"/>
          </a:p>
        </p:txBody>
      </p:sp>
      <p:sp>
        <p:nvSpPr>
          <p:cNvPr id="5"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6" name="Slide Number Placeholder 5"/>
          <p:cNvSpPr>
            <a:spLocks noGrp="1"/>
          </p:cNvSpPr>
          <p:nvPr>
            <p:ph type="sldNum" sz="quarter" idx="12"/>
          </p:nvPr>
        </p:nvSpPr>
        <p:spPr/>
        <p:txBody>
          <a:bodyPr/>
          <a:lstStyle>
            <a:lvl1pPr>
              <a:defRPr/>
            </a:lvl1pPr>
          </a:lstStyle>
          <a:p>
            <a:pPr>
              <a:defRPr/>
            </a:pPr>
            <a:fld id="{EC661831-54E1-48B4-8F48-D6C01F5550E8}" type="slidenum">
              <a:rPr lang="vi-VN"/>
              <a:pPr>
                <a:defRPr/>
              </a:pPr>
              <a:t>‹#›</a:t>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lvl1pPr>
              <a:defRPr/>
            </a:lvl1pPr>
          </a:lstStyle>
          <a:p>
            <a:pPr>
              <a:defRPr/>
            </a:pPr>
            <a:fld id="{D98551D5-1852-4218-9E76-F5C22B721916}" type="datetime1">
              <a:rPr lang="vi-VN" smtClean="0"/>
              <a:t>22/03/2025</a:t>
            </a:fld>
            <a:endParaRPr lang="vi-VN"/>
          </a:p>
        </p:txBody>
      </p:sp>
      <p:sp>
        <p:nvSpPr>
          <p:cNvPr id="5"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6" name="Slide Number Placeholder 5"/>
          <p:cNvSpPr>
            <a:spLocks noGrp="1"/>
          </p:cNvSpPr>
          <p:nvPr>
            <p:ph type="sldNum" sz="quarter" idx="12"/>
          </p:nvPr>
        </p:nvSpPr>
        <p:spPr/>
        <p:txBody>
          <a:bodyPr/>
          <a:lstStyle>
            <a:lvl1pPr>
              <a:defRPr/>
            </a:lvl1pPr>
          </a:lstStyle>
          <a:p>
            <a:pPr>
              <a:defRPr/>
            </a:pPr>
            <a:fld id="{1400800D-EAB9-4F63-B9C2-320E9B74FE8C}" type="slidenum">
              <a:rPr lang="vi-VN"/>
              <a:pPr>
                <a:defRPr/>
              </a:pPr>
              <a:t>‹#›</a:t>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F381582-4E9A-4E38-A70B-654F816E8664}" type="datetime1">
              <a:rPr lang="vi-VN" smtClean="0"/>
              <a:t>22/03/2025</a:t>
            </a:fld>
            <a:endParaRPr lang="vi-VN"/>
          </a:p>
        </p:txBody>
      </p:sp>
      <p:sp>
        <p:nvSpPr>
          <p:cNvPr id="5"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6" name="Slide Number Placeholder 5"/>
          <p:cNvSpPr>
            <a:spLocks noGrp="1"/>
          </p:cNvSpPr>
          <p:nvPr>
            <p:ph type="sldNum" sz="quarter" idx="12"/>
          </p:nvPr>
        </p:nvSpPr>
        <p:spPr/>
        <p:txBody>
          <a:bodyPr/>
          <a:lstStyle>
            <a:lvl1pPr>
              <a:defRPr/>
            </a:lvl1pPr>
          </a:lstStyle>
          <a:p>
            <a:pPr>
              <a:defRPr/>
            </a:pPr>
            <a:fld id="{E4530B06-E7ED-4F6B-98FA-D5567D32C2E4}" type="slidenum">
              <a:rPr lang="vi-VN"/>
              <a:pPr>
                <a:defRPr/>
              </a:pPr>
              <a:t>‹#›</a:t>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3"/>
          <p:cNvSpPr>
            <a:spLocks noGrp="1"/>
          </p:cNvSpPr>
          <p:nvPr>
            <p:ph type="dt" sz="half" idx="10"/>
          </p:nvPr>
        </p:nvSpPr>
        <p:spPr/>
        <p:txBody>
          <a:bodyPr/>
          <a:lstStyle>
            <a:lvl1pPr>
              <a:defRPr/>
            </a:lvl1pPr>
          </a:lstStyle>
          <a:p>
            <a:pPr>
              <a:defRPr/>
            </a:pPr>
            <a:fld id="{60BA063B-B2DF-4FB1-9FFA-FF3215108FB9}" type="datetime1">
              <a:rPr lang="vi-VN" smtClean="0"/>
              <a:t>22/03/2025</a:t>
            </a:fld>
            <a:endParaRPr lang="vi-VN"/>
          </a:p>
        </p:txBody>
      </p:sp>
      <p:sp>
        <p:nvSpPr>
          <p:cNvPr id="6"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7" name="Slide Number Placeholder 5"/>
          <p:cNvSpPr>
            <a:spLocks noGrp="1"/>
          </p:cNvSpPr>
          <p:nvPr>
            <p:ph type="sldNum" sz="quarter" idx="12"/>
          </p:nvPr>
        </p:nvSpPr>
        <p:spPr/>
        <p:txBody>
          <a:bodyPr/>
          <a:lstStyle>
            <a:lvl1pPr>
              <a:defRPr/>
            </a:lvl1pPr>
          </a:lstStyle>
          <a:p>
            <a:pPr>
              <a:defRPr/>
            </a:pPr>
            <a:fld id="{D004D05C-0CC4-4740-A040-462261678CDE}" type="slidenum">
              <a:rPr lang="vi-VN"/>
              <a:pPr>
                <a:defRPr/>
              </a:pPr>
              <a:t>‹#›</a:t>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3"/>
          <p:cNvSpPr>
            <a:spLocks noGrp="1"/>
          </p:cNvSpPr>
          <p:nvPr>
            <p:ph type="dt" sz="half" idx="10"/>
          </p:nvPr>
        </p:nvSpPr>
        <p:spPr/>
        <p:txBody>
          <a:bodyPr/>
          <a:lstStyle>
            <a:lvl1pPr>
              <a:defRPr/>
            </a:lvl1pPr>
          </a:lstStyle>
          <a:p>
            <a:pPr>
              <a:defRPr/>
            </a:pPr>
            <a:fld id="{254C3CC0-D332-4A95-A896-06F48CF0BE49}" type="datetime1">
              <a:rPr lang="vi-VN" smtClean="0"/>
              <a:t>22/03/2025</a:t>
            </a:fld>
            <a:endParaRPr lang="vi-VN"/>
          </a:p>
        </p:txBody>
      </p:sp>
      <p:sp>
        <p:nvSpPr>
          <p:cNvPr id="8"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9" name="Slide Number Placeholder 5"/>
          <p:cNvSpPr>
            <a:spLocks noGrp="1"/>
          </p:cNvSpPr>
          <p:nvPr>
            <p:ph type="sldNum" sz="quarter" idx="12"/>
          </p:nvPr>
        </p:nvSpPr>
        <p:spPr/>
        <p:txBody>
          <a:bodyPr/>
          <a:lstStyle>
            <a:lvl1pPr>
              <a:defRPr/>
            </a:lvl1pPr>
          </a:lstStyle>
          <a:p>
            <a:pPr>
              <a:defRPr/>
            </a:pPr>
            <a:fld id="{4E3AAFA6-4E23-4C04-A366-D506FD0CC689}" type="slidenum">
              <a:rPr lang="vi-VN"/>
              <a:pPr>
                <a:defRPr/>
              </a:pPr>
              <a:t>‹#›</a:t>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Date Placeholder 3"/>
          <p:cNvSpPr>
            <a:spLocks noGrp="1"/>
          </p:cNvSpPr>
          <p:nvPr>
            <p:ph type="dt" sz="half" idx="10"/>
          </p:nvPr>
        </p:nvSpPr>
        <p:spPr/>
        <p:txBody>
          <a:bodyPr/>
          <a:lstStyle>
            <a:lvl1pPr>
              <a:defRPr/>
            </a:lvl1pPr>
          </a:lstStyle>
          <a:p>
            <a:pPr>
              <a:defRPr/>
            </a:pPr>
            <a:fld id="{67D7FC62-DB4A-4111-8D99-CED17BC822F4}" type="datetime1">
              <a:rPr lang="vi-VN" smtClean="0"/>
              <a:t>22/03/2025</a:t>
            </a:fld>
            <a:endParaRPr lang="vi-VN"/>
          </a:p>
        </p:txBody>
      </p:sp>
      <p:sp>
        <p:nvSpPr>
          <p:cNvPr id="4"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5" name="Slide Number Placeholder 5"/>
          <p:cNvSpPr>
            <a:spLocks noGrp="1"/>
          </p:cNvSpPr>
          <p:nvPr>
            <p:ph type="sldNum" sz="quarter" idx="12"/>
          </p:nvPr>
        </p:nvSpPr>
        <p:spPr/>
        <p:txBody>
          <a:bodyPr/>
          <a:lstStyle>
            <a:lvl1pPr>
              <a:defRPr/>
            </a:lvl1pPr>
          </a:lstStyle>
          <a:p>
            <a:pPr>
              <a:defRPr/>
            </a:pPr>
            <a:fld id="{A0BDDE62-3C34-428E-A1A3-BFA3D944C8F7}" type="slidenum">
              <a:rPr lang="vi-VN"/>
              <a:pPr>
                <a:defRPr/>
              </a:pPr>
              <a:t>‹#›</a:t>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25D5172-1207-4BDD-8376-41896D977DA3}" type="datetime1">
              <a:rPr lang="vi-VN" smtClean="0"/>
              <a:t>22/03/2025</a:t>
            </a:fld>
            <a:endParaRPr lang="vi-VN"/>
          </a:p>
        </p:txBody>
      </p:sp>
      <p:sp>
        <p:nvSpPr>
          <p:cNvPr id="3"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4" name="Slide Number Placeholder 5"/>
          <p:cNvSpPr>
            <a:spLocks noGrp="1"/>
          </p:cNvSpPr>
          <p:nvPr>
            <p:ph type="sldNum" sz="quarter" idx="12"/>
          </p:nvPr>
        </p:nvSpPr>
        <p:spPr/>
        <p:txBody>
          <a:bodyPr/>
          <a:lstStyle>
            <a:lvl1pPr>
              <a:defRPr/>
            </a:lvl1pPr>
          </a:lstStyle>
          <a:p>
            <a:pPr>
              <a:defRPr/>
            </a:pPr>
            <a:fld id="{FB09BD08-39BD-473B-A4E0-8A89F449C111}" type="slidenum">
              <a:rPr lang="vi-VN"/>
              <a:pPr>
                <a:defRPr/>
              </a:pPr>
              <a:t>‹#›</a:t>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6B38CB9-D784-4486-960F-E313F4A9A09B}" type="datetime1">
              <a:rPr lang="vi-VN" smtClean="0"/>
              <a:t>22/03/2025</a:t>
            </a:fld>
            <a:endParaRPr lang="vi-VN"/>
          </a:p>
        </p:txBody>
      </p:sp>
      <p:sp>
        <p:nvSpPr>
          <p:cNvPr id="6"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7" name="Slide Number Placeholder 5"/>
          <p:cNvSpPr>
            <a:spLocks noGrp="1"/>
          </p:cNvSpPr>
          <p:nvPr>
            <p:ph type="sldNum" sz="quarter" idx="12"/>
          </p:nvPr>
        </p:nvSpPr>
        <p:spPr/>
        <p:txBody>
          <a:bodyPr/>
          <a:lstStyle>
            <a:lvl1pPr>
              <a:defRPr/>
            </a:lvl1pPr>
          </a:lstStyle>
          <a:p>
            <a:pPr>
              <a:defRPr/>
            </a:pPr>
            <a:fld id="{A64A6944-1EBD-4D7A-81EF-C8FFBB94670C}" type="slidenum">
              <a:rPr lang="vi-VN"/>
              <a:pPr>
                <a:defRPr/>
              </a:pPr>
              <a:t>‹#›</a:t>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vi-V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BDC17C3-80E7-4136-B642-7A14CDC5655F}" type="datetime1">
              <a:rPr lang="vi-VN" smtClean="0"/>
              <a:t>22/03/2025</a:t>
            </a:fld>
            <a:endParaRPr lang="vi-VN"/>
          </a:p>
        </p:txBody>
      </p:sp>
      <p:sp>
        <p:nvSpPr>
          <p:cNvPr id="6"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7" name="Slide Number Placeholder 5"/>
          <p:cNvSpPr>
            <a:spLocks noGrp="1"/>
          </p:cNvSpPr>
          <p:nvPr>
            <p:ph type="sldNum" sz="quarter" idx="12"/>
          </p:nvPr>
        </p:nvSpPr>
        <p:spPr/>
        <p:txBody>
          <a:bodyPr/>
          <a:lstStyle>
            <a:lvl1pPr>
              <a:defRPr/>
            </a:lvl1pPr>
          </a:lstStyle>
          <a:p>
            <a:pPr>
              <a:defRPr/>
            </a:pPr>
            <a:fld id="{72D92DBA-67EB-4807-8239-A2B7463499B7}" type="slidenum">
              <a:rPr lang="vi-VN"/>
              <a:pPr>
                <a:defRPr/>
              </a:pPr>
              <a:t>‹#›</a:t>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lvl1pPr>
              <a:defRPr/>
            </a:lvl1pPr>
          </a:lstStyle>
          <a:p>
            <a:pPr>
              <a:defRPr/>
            </a:pPr>
            <a:fld id="{81D640CB-3C72-4A5E-89F2-991B738C0087}" type="datetime1">
              <a:rPr lang="vi-VN" smtClean="0"/>
              <a:t>22/03/2025</a:t>
            </a:fld>
            <a:endParaRPr lang="vi-VN"/>
          </a:p>
        </p:txBody>
      </p:sp>
      <p:sp>
        <p:nvSpPr>
          <p:cNvPr id="5"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6" name="Slide Number Placeholder 5"/>
          <p:cNvSpPr>
            <a:spLocks noGrp="1"/>
          </p:cNvSpPr>
          <p:nvPr>
            <p:ph type="sldNum" sz="quarter" idx="12"/>
          </p:nvPr>
        </p:nvSpPr>
        <p:spPr/>
        <p:txBody>
          <a:bodyPr/>
          <a:lstStyle>
            <a:lvl1pPr>
              <a:defRPr/>
            </a:lvl1pPr>
          </a:lstStyle>
          <a:p>
            <a:pPr>
              <a:defRPr/>
            </a:pPr>
            <a:fld id="{B46DA1C5-D9DE-43DD-91EC-BC1829641976}" type="slidenum">
              <a:rPr lang="vi-VN"/>
              <a:pPr>
                <a:defRPr/>
              </a:pPr>
              <a:t>‹#›</a:t>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lvl1pPr>
              <a:defRPr/>
            </a:lvl1pPr>
          </a:lstStyle>
          <a:p>
            <a:pPr>
              <a:defRPr/>
            </a:pPr>
            <a:fld id="{1ACAAA3C-B0E1-45AB-9B86-CF59C930F5E4}" type="datetime1">
              <a:rPr lang="vi-VN" smtClean="0"/>
              <a:t>22/03/2025</a:t>
            </a:fld>
            <a:endParaRPr lang="vi-VN"/>
          </a:p>
        </p:txBody>
      </p:sp>
      <p:sp>
        <p:nvSpPr>
          <p:cNvPr id="5" name="Footer Placeholder 4"/>
          <p:cNvSpPr>
            <a:spLocks noGrp="1"/>
          </p:cNvSpPr>
          <p:nvPr>
            <p:ph type="ftr" sz="quarter" idx="11"/>
          </p:nvPr>
        </p:nvSpPr>
        <p:spPr/>
        <p:txBody>
          <a:bodyPr/>
          <a:lstStyle>
            <a:lvl1pPr>
              <a:defRPr/>
            </a:lvl1pPr>
          </a:lstStyle>
          <a:p>
            <a:pPr>
              <a:defRPr/>
            </a:pPr>
            <a:r>
              <a:rPr lang="vi-VN"/>
              <a:t>Nguyễn tiến Huy - Tháng 3/2025</a:t>
            </a:r>
          </a:p>
        </p:txBody>
      </p:sp>
      <p:sp>
        <p:nvSpPr>
          <p:cNvPr id="6" name="Slide Number Placeholder 5"/>
          <p:cNvSpPr>
            <a:spLocks noGrp="1"/>
          </p:cNvSpPr>
          <p:nvPr>
            <p:ph type="sldNum" sz="quarter" idx="12"/>
          </p:nvPr>
        </p:nvSpPr>
        <p:spPr/>
        <p:txBody>
          <a:bodyPr/>
          <a:lstStyle>
            <a:lvl1pPr>
              <a:defRPr/>
            </a:lvl1pPr>
          </a:lstStyle>
          <a:p>
            <a:pPr>
              <a:defRPr/>
            </a:pPr>
            <a:fld id="{E083CFEA-6F14-4B1A-B649-557A38A7C4DE}" type="slidenum">
              <a:rPr lang="vi-VN"/>
              <a:pPr>
                <a:defRPr/>
              </a:pPr>
              <a:t>‹#›</a:t>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vi-VN"/>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A123DA1A-FE15-4F4E-B1D0-17E4D35857E4}" type="datetime1">
              <a:rPr lang="vi-VN" smtClean="0"/>
              <a:t>22/03/2025</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vi-VN"/>
              <a:t>Nguyễn tiến Huy - Tháng 3/2025</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F13040E1-E9A8-42D2-AEF2-2CE6C8776572}" type="slidenum">
              <a:rPr lang="vi-VN"/>
              <a:pPr>
                <a:defRPr/>
              </a:pPr>
              <a:t>‹#›</a:t>
            </a:fld>
            <a:endParaRPr lang="vi-V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defRPr>
      </a:lvl2pPr>
      <a:lvl3pPr algn="ctr" rtl="0" eaLnBrk="0" fontAlgn="base" hangingPunct="0">
        <a:spcBef>
          <a:spcPct val="0"/>
        </a:spcBef>
        <a:spcAft>
          <a:spcPct val="0"/>
        </a:spcAft>
        <a:defRPr sz="4400">
          <a:solidFill>
            <a:schemeClr val="tx1"/>
          </a:solidFill>
          <a:latin typeface="Times New Roman" pitchFamily="18" charset="0"/>
        </a:defRPr>
      </a:lvl3pPr>
      <a:lvl4pPr algn="ctr" rtl="0" eaLnBrk="0" fontAlgn="base" hangingPunct="0">
        <a:spcBef>
          <a:spcPct val="0"/>
        </a:spcBef>
        <a:spcAft>
          <a:spcPct val="0"/>
        </a:spcAft>
        <a:defRPr sz="4400">
          <a:solidFill>
            <a:schemeClr val="tx1"/>
          </a:solidFill>
          <a:latin typeface="Times New Roman" pitchFamily="18" charset="0"/>
        </a:defRPr>
      </a:lvl4pPr>
      <a:lvl5pPr algn="ctr" rtl="0" eaLnBrk="0" fontAlgn="base" hangingPunct="0">
        <a:spcBef>
          <a:spcPct val="0"/>
        </a:spcBef>
        <a:spcAft>
          <a:spcPct val="0"/>
        </a:spcAft>
        <a:defRPr sz="4400">
          <a:solidFill>
            <a:schemeClr val="tx1"/>
          </a:solidFill>
          <a:latin typeface="Times New Roman" pitchFamily="18" charset="0"/>
        </a:defRPr>
      </a:lvl5pPr>
      <a:lvl6pPr marL="457200" algn="ctr" rtl="0" fontAlgn="base">
        <a:spcBef>
          <a:spcPct val="0"/>
        </a:spcBef>
        <a:spcAft>
          <a:spcPct val="0"/>
        </a:spcAft>
        <a:defRPr sz="4400">
          <a:solidFill>
            <a:schemeClr val="tx1"/>
          </a:solidFill>
          <a:latin typeface="Times New Roman" pitchFamily="18" charset="0"/>
        </a:defRPr>
      </a:lvl6pPr>
      <a:lvl7pPr marL="914400" algn="ctr" rtl="0" fontAlgn="base">
        <a:spcBef>
          <a:spcPct val="0"/>
        </a:spcBef>
        <a:spcAft>
          <a:spcPct val="0"/>
        </a:spcAft>
        <a:defRPr sz="4400">
          <a:solidFill>
            <a:schemeClr val="tx1"/>
          </a:solidFill>
          <a:latin typeface="Times New Roman" pitchFamily="18" charset="0"/>
        </a:defRPr>
      </a:lvl7pPr>
      <a:lvl8pPr marL="1371600" algn="ctr" rtl="0" fontAlgn="base">
        <a:spcBef>
          <a:spcPct val="0"/>
        </a:spcBef>
        <a:spcAft>
          <a:spcPct val="0"/>
        </a:spcAft>
        <a:defRPr sz="4400">
          <a:solidFill>
            <a:schemeClr val="tx1"/>
          </a:solidFill>
          <a:latin typeface="Times New Roman" pitchFamily="18" charset="0"/>
        </a:defRPr>
      </a:lvl8pPr>
      <a:lvl9pPr marL="1828800" algn="ctr" rtl="0" fontAlgn="base">
        <a:spcBef>
          <a:spcPct val="0"/>
        </a:spcBef>
        <a:spcAft>
          <a:spcPct val="0"/>
        </a:spcAft>
        <a:defRPr sz="4400">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2"/>
          <p:cNvSpPr txBox="1">
            <a:spLocks noChangeArrowheads="1"/>
          </p:cNvSpPr>
          <p:nvPr/>
        </p:nvSpPr>
        <p:spPr bwMode="auto">
          <a:xfrm>
            <a:off x="4139952" y="1054954"/>
            <a:ext cx="4752528" cy="2677656"/>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Đăng ký </a:t>
            </a:r>
            <a:br>
              <a:rPr lang="en-US" sz="1200">
                <a:latin typeface="Arial" pitchFamily="34" charset="0"/>
                <a:cs typeface="Arial" pitchFamily="34" charset="0"/>
              </a:rPr>
            </a:br>
            <a:r>
              <a:rPr lang="en-US" sz="1200">
                <a:latin typeface="Arial" pitchFamily="34" charset="0"/>
                <a:cs typeface="Arial" pitchFamily="34" charset="0"/>
              </a:rPr>
              <a:t>    Bước 1 : Mỗi sinh viên sẽ chọn 1 đồ án trong danh sách đồ án     </a:t>
            </a:r>
          </a:p>
          <a:p>
            <a:pPr fontAlgn="auto">
              <a:spcBef>
                <a:spcPts val="0"/>
              </a:spcBef>
              <a:spcAft>
                <a:spcPts val="0"/>
              </a:spcAft>
              <a:defRPr/>
            </a:pPr>
            <a:r>
              <a:rPr lang="en-US" sz="1200">
                <a:latin typeface="Arial" pitchFamily="34" charset="0"/>
                <a:cs typeface="Arial" pitchFamily="34" charset="0"/>
              </a:rPr>
              <a:t>    Bước 2 : Tạo tập tin Dang_ky.txt với nội dung theo cấu trúc sau </a:t>
            </a:r>
            <a:br>
              <a:rPr lang="en-US" sz="1200">
                <a:latin typeface="Arial" pitchFamily="34" charset="0"/>
                <a:cs typeface="Arial" pitchFamily="34" charset="0"/>
              </a:rPr>
            </a:br>
            <a:r>
              <a:rPr lang="en-US" sz="1200">
                <a:latin typeface="Arial" pitchFamily="34" charset="0"/>
                <a:cs typeface="Arial" pitchFamily="34" charset="0"/>
              </a:rPr>
              <a:t>            Họ tên : ………… Mã số SV:………..</a:t>
            </a:r>
            <a:br>
              <a:rPr lang="en-US" sz="1200">
                <a:latin typeface="Arial" pitchFamily="34" charset="0"/>
                <a:cs typeface="Arial" pitchFamily="34" charset="0"/>
              </a:rPr>
            </a:br>
            <a:r>
              <a:rPr lang="en-US" sz="1200">
                <a:latin typeface="Arial" pitchFamily="34" charset="0"/>
                <a:cs typeface="Arial" pitchFamily="34" charset="0"/>
              </a:rPr>
              <a:t>            Đồ án chọn : ………….Lý do :(không bắt buộc )</a:t>
            </a:r>
            <a:br>
              <a:rPr lang="en-US" sz="1200">
                <a:latin typeface="Arial" pitchFamily="34" charset="0"/>
                <a:cs typeface="Arial" pitchFamily="34" charset="0"/>
              </a:rPr>
            </a:br>
            <a:r>
              <a:rPr lang="en-US" sz="1200">
                <a:latin typeface="Arial" pitchFamily="34" charset="0"/>
                <a:cs typeface="Arial" pitchFamily="34" charset="0"/>
              </a:rPr>
              <a:t>     Và gởi cho giáo viên </a:t>
            </a:r>
            <a:r>
              <a:rPr lang="en-US" sz="1200" b="1">
                <a:latin typeface="Arial" pitchFamily="34" charset="0"/>
                <a:cs typeface="Arial" pitchFamily="34" charset="0"/>
              </a:rPr>
              <a:t>qua đợt nộp bài có tên Dang_ky_Do_an</a:t>
            </a:r>
            <a:br>
              <a:rPr lang="en-US" sz="1200" b="1">
                <a:latin typeface="Arial" pitchFamily="34" charset="0"/>
                <a:cs typeface="Arial" pitchFamily="34" charset="0"/>
              </a:rPr>
            </a:br>
            <a:r>
              <a:rPr lang="en-US" sz="1200" b="1">
                <a:solidFill>
                  <a:schemeClr val="accent6">
                    <a:lumMod val="50000"/>
                  </a:schemeClr>
                </a:solidFill>
                <a:latin typeface="Arial" pitchFamily="34" charset="0"/>
                <a:cs typeface="Arial" pitchFamily="34" charset="0"/>
              </a:rPr>
              <a:t>Lưu ý khi đăng ký </a:t>
            </a:r>
            <a:br>
              <a:rPr lang="en-US" sz="1200" b="1">
                <a:solidFill>
                  <a:schemeClr val="accent6">
                    <a:lumMod val="50000"/>
                  </a:schemeClr>
                </a:solidFill>
                <a:latin typeface="Arial" pitchFamily="34" charset="0"/>
                <a:cs typeface="Arial" pitchFamily="34" charset="0"/>
              </a:rPr>
            </a:br>
            <a:r>
              <a:rPr lang="en-US" sz="1200" b="1" i="1">
                <a:solidFill>
                  <a:srgbClr val="7030A0"/>
                </a:solidFill>
                <a:latin typeface="Arial" pitchFamily="34" charset="0"/>
                <a:cs typeface="Arial" pitchFamily="34" charset="0"/>
              </a:rPr>
              <a:t>   </a:t>
            </a:r>
            <a:r>
              <a:rPr lang="en-US" sz="1200" i="1">
                <a:solidFill>
                  <a:srgbClr val="7030A0"/>
                </a:solidFill>
                <a:latin typeface="Arial" pitchFamily="34" charset="0"/>
                <a:cs typeface="Arial" pitchFamily="34" charset="0"/>
              </a:rPr>
              <a:t>Đồ án 1,2,3  :  Chỉ </a:t>
            </a:r>
            <a:r>
              <a:rPr lang="en-US" sz="1200" b="1" i="1">
                <a:solidFill>
                  <a:srgbClr val="7030A0"/>
                </a:solidFill>
                <a:latin typeface="Arial" pitchFamily="34" charset="0"/>
                <a:cs typeface="Arial" pitchFamily="34" charset="0"/>
              </a:rPr>
              <a:t>dành riêng </a:t>
            </a:r>
            <a:r>
              <a:rPr lang="en-US" sz="1200" i="1">
                <a:solidFill>
                  <a:srgbClr val="7030A0"/>
                </a:solidFill>
                <a:latin typeface="Arial" pitchFamily="34" charset="0"/>
                <a:cs typeface="Arial" pitchFamily="34" charset="0"/>
              </a:rPr>
              <a:t>cho các sinh viên có khả năng và thời gian rảnh</a:t>
            </a:r>
            <a:r>
              <a:rPr lang="en-US" sz="1200" b="1" i="1">
                <a:solidFill>
                  <a:srgbClr val="7030A0"/>
                </a:solidFill>
                <a:latin typeface="Arial" pitchFamily="34" charset="0"/>
                <a:cs typeface="Arial" pitchFamily="34" charset="0"/>
              </a:rPr>
              <a:t> rất giới hạn vì nhiều lý do khác nhau  </a:t>
            </a:r>
            <a:br>
              <a:rPr lang="en-US" sz="1200">
                <a:latin typeface="Arial" pitchFamily="34" charset="0"/>
                <a:cs typeface="Arial" pitchFamily="34" charset="0"/>
              </a:rPr>
            </a:br>
            <a:r>
              <a:rPr lang="en-US" sz="1200">
                <a:latin typeface="Arial" pitchFamily="34" charset="0"/>
                <a:cs typeface="Arial" pitchFamily="34" charset="0"/>
              </a:rPr>
              <a:t>   Đồ án 4,5,6  : Tương đương bài tập tối thiểu</a:t>
            </a:r>
            <a:br>
              <a:rPr lang="en-US" sz="1200">
                <a:latin typeface="Arial" pitchFamily="34" charset="0"/>
                <a:cs typeface="Arial" pitchFamily="34" charset="0"/>
              </a:rPr>
            </a:br>
            <a:r>
              <a:rPr lang="en-US" sz="1200">
                <a:latin typeface="Arial" pitchFamily="34" charset="0"/>
                <a:cs typeface="Arial" pitchFamily="34" charset="0"/>
              </a:rPr>
              <a:t>   Đồ án 7,8,9 : Tương đương bài  tập rèn luyện thêm</a:t>
            </a:r>
            <a:br>
              <a:rPr lang="en-US" sz="1200">
                <a:latin typeface="Arial" pitchFamily="34" charset="0"/>
                <a:cs typeface="Arial" pitchFamily="34" charset="0"/>
              </a:rPr>
            </a:br>
            <a:r>
              <a:rPr lang="en-US" sz="1200">
                <a:latin typeface="Arial" pitchFamily="34" charset="0"/>
                <a:cs typeface="Arial" pitchFamily="34" charset="0"/>
              </a:rPr>
              <a:t>   Đồ án 10,11: Tương đương bài tập nâng cao </a:t>
            </a:r>
            <a:br>
              <a:rPr lang="en-US" sz="1200">
                <a:latin typeface="Arial" pitchFamily="34" charset="0"/>
                <a:cs typeface="Arial" pitchFamily="34" charset="0"/>
              </a:rPr>
            </a:br>
            <a:r>
              <a:rPr lang="en-US" sz="1200">
                <a:latin typeface="Arial" pitchFamily="34" charset="0"/>
                <a:cs typeface="Arial" pitchFamily="34" charset="0"/>
              </a:rPr>
              <a:t>Tùy vào khả năng, mức tiếp thu bài giảng và </a:t>
            </a:r>
            <a:r>
              <a:rPr lang="en-US" sz="1200" b="1" u="sng">
                <a:latin typeface="Arial" pitchFamily="34" charset="0"/>
                <a:cs typeface="Arial" pitchFamily="34" charset="0"/>
              </a:rPr>
              <a:t>đặc biệt là thời gian rảnh</a:t>
            </a:r>
            <a:r>
              <a:rPr lang="en-US" sz="1200">
                <a:latin typeface="Arial" pitchFamily="34" charset="0"/>
                <a:cs typeface="Arial" pitchFamily="34" charset="0"/>
              </a:rPr>
              <a:t> sinh viên sẽ chọn đồ án thích hợp nhất với mình </a:t>
            </a:r>
            <a:endParaRPr lang="en-US" sz="1200" b="1">
              <a:latin typeface="Arial" pitchFamily="34" charset="0"/>
              <a:cs typeface="Arial" pitchFamily="34" charset="0"/>
            </a:endParaRPr>
          </a:p>
        </p:txBody>
      </p:sp>
      <p:sp>
        <p:nvSpPr>
          <p:cNvPr id="14" name="Rounded Rectangle 13">
            <a:hlinkClick r:id="" action="ppaction://noaction"/>
          </p:cNvPr>
          <p:cNvSpPr/>
          <p:nvPr/>
        </p:nvSpPr>
        <p:spPr>
          <a:xfrm>
            <a:off x="2872435" y="252113"/>
            <a:ext cx="3384376" cy="576064"/>
          </a:xfrm>
          <a:prstGeom prst="roundRect">
            <a:avLst/>
          </a:prstGeom>
          <a:solidFill>
            <a:schemeClr val="tx2">
              <a:lumMod val="75000"/>
            </a:schemeClr>
          </a:solidFill>
          <a:ln>
            <a:solidFill>
              <a:srgbClr val="002060"/>
            </a:solidFill>
          </a:ln>
          <a:effectLst>
            <a:outerShdw blurRad="482600" dir="5400000" sx="89000" sy="89000" algn="ctr" rotWithShape="0">
              <a:srgbClr val="000000">
                <a:alpha val="49000"/>
              </a:srgbClr>
            </a:outerShdw>
          </a:effectLst>
          <a:scene3d>
            <a:camera prst="orthographicFront"/>
            <a:lightRig rig="twoPt" dir="t"/>
          </a:scene3d>
          <a:sp3d extrusionH="12700" prstMaterial="translucentPowder">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a:solidFill>
                  <a:srgbClr val="FFFF00"/>
                </a:solidFill>
              </a:rPr>
              <a:t>Thiết kế phần mềm nâng cao</a:t>
            </a:r>
            <a:br>
              <a:rPr lang="en-US" sz="1600" b="1">
                <a:solidFill>
                  <a:srgbClr val="FFFF00"/>
                </a:solidFill>
              </a:rPr>
            </a:br>
            <a:r>
              <a:rPr lang="en-US" sz="1600" b="1">
                <a:solidFill>
                  <a:schemeClr val="bg1"/>
                </a:solidFill>
              </a:rPr>
              <a:t>Đồ án môn học </a:t>
            </a:r>
            <a:endParaRPr lang="vi-VN" sz="1600" b="1">
              <a:solidFill>
                <a:srgbClr val="FFFF00"/>
              </a:solidFill>
            </a:endParaRPr>
          </a:p>
        </p:txBody>
      </p:sp>
      <p:sp>
        <p:nvSpPr>
          <p:cNvPr id="16" name="Footer Placeholder 1"/>
          <p:cNvSpPr>
            <a:spLocks noGrp="1"/>
          </p:cNvSpPr>
          <p:nvPr>
            <p:ph type="ftr" sz="quarter" idx="11"/>
          </p:nvPr>
        </p:nvSpPr>
        <p:spPr>
          <a:xfrm>
            <a:off x="2702710" y="6359842"/>
            <a:ext cx="3723827" cy="365125"/>
          </a:xfrm>
        </p:spPr>
        <p:txBody>
          <a:bodyPr/>
          <a:lstStyle/>
          <a:p>
            <a:pPr>
              <a:defRPr/>
            </a:pPr>
            <a:r>
              <a:rPr lang="vi-VN" sz="1600" b="1">
                <a:solidFill>
                  <a:schemeClr val="tx1"/>
                </a:solidFill>
              </a:rPr>
              <a:t>Nguyễn tiến Huy - Tháng 3/2025</a:t>
            </a:r>
          </a:p>
        </p:txBody>
      </p:sp>
      <p:sp>
        <p:nvSpPr>
          <p:cNvPr id="9" name="TextBox 102"/>
          <p:cNvSpPr txBox="1">
            <a:spLocks noChangeArrowheads="1"/>
          </p:cNvSpPr>
          <p:nvPr/>
        </p:nvSpPr>
        <p:spPr bwMode="auto">
          <a:xfrm>
            <a:off x="222103" y="2010503"/>
            <a:ext cx="1844211" cy="276999"/>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Danh sách các đồ án </a:t>
            </a:r>
            <a:endParaRPr lang="en-US" sz="1200" b="1">
              <a:latin typeface="Arial" pitchFamily="34" charset="0"/>
              <a:cs typeface="Arial" pitchFamily="34" charset="0"/>
            </a:endParaRPr>
          </a:p>
        </p:txBody>
      </p:sp>
      <p:grpSp>
        <p:nvGrpSpPr>
          <p:cNvPr id="2" name="Group 1"/>
          <p:cNvGrpSpPr/>
          <p:nvPr/>
        </p:nvGrpSpPr>
        <p:grpSpPr>
          <a:xfrm>
            <a:off x="207507" y="2356196"/>
            <a:ext cx="2509798" cy="858521"/>
            <a:chOff x="207507" y="2356196"/>
            <a:chExt cx="2509798" cy="858521"/>
          </a:xfrm>
        </p:grpSpPr>
        <p:sp>
          <p:nvSpPr>
            <p:cNvPr id="19" name="TextBox 102"/>
            <p:cNvSpPr txBox="1">
              <a:spLocks noChangeArrowheads="1"/>
            </p:cNvSpPr>
            <p:nvPr/>
          </p:nvSpPr>
          <p:spPr bwMode="auto">
            <a:xfrm>
              <a:off x="207507" y="2356196"/>
              <a:ext cx="2509797"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a:latin typeface="Arial" pitchFamily="34" charset="0"/>
                  <a:cs typeface="Arial" pitchFamily="34" charset="0"/>
                </a:rPr>
                <a:t>1. Quản lý thu chi gia đình 1 </a:t>
              </a:r>
            </a:p>
          </p:txBody>
        </p:sp>
        <p:sp>
          <p:nvSpPr>
            <p:cNvPr id="12" name="TextBox 102"/>
            <p:cNvSpPr txBox="1">
              <a:spLocks noChangeArrowheads="1"/>
            </p:cNvSpPr>
            <p:nvPr/>
          </p:nvSpPr>
          <p:spPr bwMode="auto">
            <a:xfrm>
              <a:off x="222103" y="2660719"/>
              <a:ext cx="2495202"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a:latin typeface="Arial" pitchFamily="34" charset="0"/>
                  <a:cs typeface="Arial" pitchFamily="34" charset="0"/>
                </a:rPr>
                <a:t>2. Quản lý  khách sạn 1 </a:t>
              </a:r>
            </a:p>
          </p:txBody>
        </p:sp>
        <p:sp>
          <p:nvSpPr>
            <p:cNvPr id="13" name="TextBox 102"/>
            <p:cNvSpPr txBox="1">
              <a:spLocks noChangeArrowheads="1"/>
            </p:cNvSpPr>
            <p:nvPr/>
          </p:nvSpPr>
          <p:spPr bwMode="auto">
            <a:xfrm>
              <a:off x="222103" y="2937718"/>
              <a:ext cx="2495202"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a:latin typeface="Arial" pitchFamily="34" charset="0"/>
                  <a:cs typeface="Arial" pitchFamily="34" charset="0"/>
                </a:rPr>
                <a:t>3. Quản lý Karaoke 1 </a:t>
              </a:r>
            </a:p>
          </p:txBody>
        </p:sp>
      </p:grpSp>
      <p:grpSp>
        <p:nvGrpSpPr>
          <p:cNvPr id="15" name="Group 14"/>
          <p:cNvGrpSpPr/>
          <p:nvPr/>
        </p:nvGrpSpPr>
        <p:grpSpPr>
          <a:xfrm>
            <a:off x="214101" y="3279074"/>
            <a:ext cx="3133763" cy="858521"/>
            <a:chOff x="207507" y="2356196"/>
            <a:chExt cx="2509798" cy="858521"/>
          </a:xfrm>
        </p:grpSpPr>
        <p:sp>
          <p:nvSpPr>
            <p:cNvPr id="23" name="TextBox 102"/>
            <p:cNvSpPr txBox="1">
              <a:spLocks noChangeArrowheads="1"/>
            </p:cNvSpPr>
            <p:nvPr/>
          </p:nvSpPr>
          <p:spPr bwMode="auto">
            <a:xfrm>
              <a:off x="207507" y="2356196"/>
              <a:ext cx="2509797"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b="1">
                  <a:latin typeface="Arial" pitchFamily="34" charset="0"/>
                  <a:cs typeface="Arial" pitchFamily="34" charset="0"/>
                </a:rPr>
                <a:t>4. Quản lý  khách sạn 2 – Dịch vụ</a:t>
              </a:r>
            </a:p>
          </p:txBody>
        </p:sp>
        <p:sp>
          <p:nvSpPr>
            <p:cNvPr id="24" name="TextBox 102"/>
            <p:cNvSpPr txBox="1">
              <a:spLocks noChangeArrowheads="1"/>
            </p:cNvSpPr>
            <p:nvPr/>
          </p:nvSpPr>
          <p:spPr bwMode="auto">
            <a:xfrm>
              <a:off x="222103" y="2660719"/>
              <a:ext cx="2495202"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b="1">
                  <a:latin typeface="Arial" pitchFamily="34" charset="0"/>
                  <a:cs typeface="Arial" pitchFamily="34" charset="0"/>
                </a:rPr>
                <a:t>5. Quản lý  Karaoke 2  - Dịch vụ</a:t>
              </a:r>
            </a:p>
          </p:txBody>
        </p:sp>
        <p:sp>
          <p:nvSpPr>
            <p:cNvPr id="25" name="TextBox 102"/>
            <p:cNvSpPr txBox="1">
              <a:spLocks noChangeArrowheads="1"/>
            </p:cNvSpPr>
            <p:nvPr/>
          </p:nvSpPr>
          <p:spPr bwMode="auto">
            <a:xfrm>
              <a:off x="222103" y="2937718"/>
              <a:ext cx="2495202"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b="1">
                  <a:latin typeface="Arial" pitchFamily="34" charset="0"/>
                  <a:cs typeface="Arial" pitchFamily="34" charset="0"/>
                </a:rPr>
                <a:t>6. Bán vé xem phim 1 – Dịch vụ </a:t>
              </a:r>
            </a:p>
          </p:txBody>
        </p:sp>
      </p:grpSp>
      <p:sp>
        <p:nvSpPr>
          <p:cNvPr id="26" name="TextBox 102"/>
          <p:cNvSpPr txBox="1">
            <a:spLocks noChangeArrowheads="1"/>
          </p:cNvSpPr>
          <p:nvPr/>
        </p:nvSpPr>
        <p:spPr bwMode="auto">
          <a:xfrm>
            <a:off x="229877" y="1059105"/>
            <a:ext cx="3716420" cy="830997"/>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Mục tiêu </a:t>
            </a:r>
            <a:br>
              <a:rPr lang="en-US" sz="1200">
                <a:latin typeface="Arial" pitchFamily="34" charset="0"/>
                <a:cs typeface="Arial" pitchFamily="34" charset="0"/>
              </a:rPr>
            </a:br>
            <a:r>
              <a:rPr lang="en-US" sz="1200">
                <a:latin typeface="Arial" pitchFamily="34" charset="0"/>
                <a:cs typeface="Arial" pitchFamily="34" charset="0"/>
              </a:rPr>
              <a:t>   Giúp sinh viên có </a:t>
            </a:r>
            <a:r>
              <a:rPr lang="en-US" sz="1200" b="1" i="1" u="sng">
                <a:solidFill>
                  <a:srgbClr val="FF0000"/>
                </a:solidFill>
                <a:latin typeface="Arial" pitchFamily="34" charset="0"/>
                <a:cs typeface="Arial" pitchFamily="34" charset="0"/>
              </a:rPr>
              <a:t>cơ hội  </a:t>
            </a:r>
            <a:r>
              <a:rPr lang="en-US" sz="1200">
                <a:latin typeface="Arial" pitchFamily="34" charset="0"/>
                <a:cs typeface="Arial" pitchFamily="34" charset="0"/>
              </a:rPr>
              <a:t>áp dụng các </a:t>
            </a:r>
            <a:r>
              <a:rPr lang="en-US" sz="1200" b="1">
                <a:latin typeface="Arial" pitchFamily="34" charset="0"/>
                <a:cs typeface="Arial" pitchFamily="34" charset="0"/>
              </a:rPr>
              <a:t>kiến thức</a:t>
            </a:r>
            <a:r>
              <a:rPr lang="en-US" sz="1200">
                <a:latin typeface="Arial" pitchFamily="34" charset="0"/>
                <a:cs typeface="Arial" pitchFamily="34" charset="0"/>
              </a:rPr>
              <a:t>, </a:t>
            </a:r>
            <a:r>
              <a:rPr lang="en-US" sz="1200" b="1">
                <a:latin typeface="Arial" pitchFamily="34" charset="0"/>
                <a:cs typeface="Arial" pitchFamily="34" charset="0"/>
              </a:rPr>
              <a:t>kỹ năng </a:t>
            </a:r>
            <a:r>
              <a:rPr lang="en-US" sz="1200">
                <a:latin typeface="Arial" pitchFamily="34" charset="0"/>
                <a:cs typeface="Arial" pitchFamily="34" charset="0"/>
              </a:rPr>
              <a:t>đã học vào việc xây dựng phần mềm </a:t>
            </a:r>
            <a:r>
              <a:rPr lang="en-US" sz="1200" i="1">
                <a:latin typeface="Arial" pitchFamily="34" charset="0"/>
                <a:cs typeface="Arial" pitchFamily="34" charset="0"/>
              </a:rPr>
              <a:t>gần với thực tế nhất có thể có</a:t>
            </a:r>
            <a:endParaRPr lang="en-US" sz="1200" b="1">
              <a:latin typeface="Arial" pitchFamily="34" charset="0"/>
              <a:cs typeface="Arial" pitchFamily="34" charset="0"/>
            </a:endParaRPr>
          </a:p>
        </p:txBody>
      </p:sp>
      <p:sp>
        <p:nvSpPr>
          <p:cNvPr id="28" name="TextBox 102"/>
          <p:cNvSpPr txBox="1">
            <a:spLocks noChangeArrowheads="1"/>
          </p:cNvSpPr>
          <p:nvPr/>
        </p:nvSpPr>
        <p:spPr bwMode="auto">
          <a:xfrm>
            <a:off x="4139952" y="4137143"/>
            <a:ext cx="4752528" cy="646331"/>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Thực hiện </a:t>
            </a:r>
            <a:br>
              <a:rPr lang="en-US" sz="1200">
                <a:latin typeface="Arial" pitchFamily="34" charset="0"/>
                <a:cs typeface="Arial" pitchFamily="34" charset="0"/>
              </a:rPr>
            </a:br>
            <a:r>
              <a:rPr lang="en-US" sz="1200">
                <a:latin typeface="Arial" pitchFamily="34" charset="0"/>
                <a:cs typeface="Arial" pitchFamily="34" charset="0"/>
              </a:rPr>
              <a:t>   Giáo viên sẽ tạo các đợt nộp bài theo tiến độ của bài giảng </a:t>
            </a:r>
            <a:br>
              <a:rPr lang="en-US" sz="1200">
                <a:latin typeface="Arial" pitchFamily="34" charset="0"/>
                <a:cs typeface="Arial" pitchFamily="34" charset="0"/>
              </a:rPr>
            </a:br>
            <a:r>
              <a:rPr lang="en-US" sz="1200">
                <a:latin typeface="Arial" pitchFamily="34" charset="0"/>
                <a:cs typeface="Arial" pitchFamily="34" charset="0"/>
              </a:rPr>
              <a:t>( học đến đâu sẽ áp dụng vào đồ án đến đó ) </a:t>
            </a:r>
            <a:endParaRPr lang="en-US" sz="1200" b="1">
              <a:latin typeface="Arial" pitchFamily="34" charset="0"/>
              <a:cs typeface="Arial" pitchFamily="34" charset="0"/>
            </a:endParaRPr>
          </a:p>
        </p:txBody>
      </p:sp>
      <p:grpSp>
        <p:nvGrpSpPr>
          <p:cNvPr id="17" name="Group 16"/>
          <p:cNvGrpSpPr/>
          <p:nvPr/>
        </p:nvGrpSpPr>
        <p:grpSpPr>
          <a:xfrm>
            <a:off x="218016" y="4201952"/>
            <a:ext cx="3417880" cy="858521"/>
            <a:chOff x="207507" y="2356196"/>
            <a:chExt cx="2509798" cy="858521"/>
          </a:xfrm>
        </p:grpSpPr>
        <p:sp>
          <p:nvSpPr>
            <p:cNvPr id="18" name="TextBox 102"/>
            <p:cNvSpPr txBox="1">
              <a:spLocks noChangeArrowheads="1"/>
            </p:cNvSpPr>
            <p:nvPr/>
          </p:nvSpPr>
          <p:spPr bwMode="auto">
            <a:xfrm>
              <a:off x="207507" y="2356196"/>
              <a:ext cx="2509797"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b="1">
                  <a:solidFill>
                    <a:srgbClr val="0070C0"/>
                  </a:solidFill>
                  <a:latin typeface="Arial" pitchFamily="34" charset="0"/>
                  <a:cs typeface="Arial" pitchFamily="34" charset="0"/>
                </a:rPr>
                <a:t>7. Quản lý  khách sạn 2 – Phân quyền</a:t>
              </a:r>
            </a:p>
          </p:txBody>
        </p:sp>
        <p:sp>
          <p:nvSpPr>
            <p:cNvPr id="20" name="TextBox 102"/>
            <p:cNvSpPr txBox="1">
              <a:spLocks noChangeArrowheads="1"/>
            </p:cNvSpPr>
            <p:nvPr/>
          </p:nvSpPr>
          <p:spPr bwMode="auto">
            <a:xfrm>
              <a:off x="222103" y="2660719"/>
              <a:ext cx="2495202"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b="1">
                  <a:solidFill>
                    <a:srgbClr val="0070C0"/>
                  </a:solidFill>
                  <a:latin typeface="Arial" pitchFamily="34" charset="0"/>
                  <a:cs typeface="Arial" pitchFamily="34" charset="0"/>
                </a:rPr>
                <a:t>8. Quản lý  Karaoke 2  - Phân quyền</a:t>
              </a:r>
            </a:p>
          </p:txBody>
        </p:sp>
        <p:sp>
          <p:nvSpPr>
            <p:cNvPr id="21" name="TextBox 102"/>
            <p:cNvSpPr txBox="1">
              <a:spLocks noChangeArrowheads="1"/>
            </p:cNvSpPr>
            <p:nvPr/>
          </p:nvSpPr>
          <p:spPr bwMode="auto">
            <a:xfrm>
              <a:off x="222103" y="2937718"/>
              <a:ext cx="2495202"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b="1">
                  <a:solidFill>
                    <a:srgbClr val="0070C0"/>
                  </a:solidFill>
                  <a:latin typeface="Arial" pitchFamily="34" charset="0"/>
                  <a:cs typeface="Arial" pitchFamily="34" charset="0"/>
                </a:rPr>
                <a:t>9. Bán vé xem phim 1 – Phân quyền </a:t>
              </a:r>
            </a:p>
          </p:txBody>
        </p:sp>
      </p:grpSp>
      <p:grpSp>
        <p:nvGrpSpPr>
          <p:cNvPr id="22" name="Group 21"/>
          <p:cNvGrpSpPr/>
          <p:nvPr/>
        </p:nvGrpSpPr>
        <p:grpSpPr>
          <a:xfrm>
            <a:off x="184411" y="5108204"/>
            <a:ext cx="3046354" cy="581522"/>
            <a:chOff x="207507" y="2356196"/>
            <a:chExt cx="2509798" cy="581522"/>
          </a:xfrm>
        </p:grpSpPr>
        <p:sp>
          <p:nvSpPr>
            <p:cNvPr id="27" name="TextBox 102"/>
            <p:cNvSpPr txBox="1">
              <a:spLocks noChangeArrowheads="1"/>
            </p:cNvSpPr>
            <p:nvPr/>
          </p:nvSpPr>
          <p:spPr bwMode="auto">
            <a:xfrm>
              <a:off x="207507" y="2356196"/>
              <a:ext cx="2509797"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b="1">
                  <a:solidFill>
                    <a:schemeClr val="accent6">
                      <a:lumMod val="50000"/>
                    </a:schemeClr>
                  </a:solidFill>
                  <a:latin typeface="Arial" pitchFamily="34" charset="0"/>
                  <a:cs typeface="Arial" pitchFamily="34" charset="0"/>
                </a:rPr>
                <a:t>10. Quản lý  khách sạn 3 – Phân quyền</a:t>
              </a:r>
            </a:p>
          </p:txBody>
        </p:sp>
        <p:sp>
          <p:nvSpPr>
            <p:cNvPr id="29" name="TextBox 102"/>
            <p:cNvSpPr txBox="1">
              <a:spLocks noChangeArrowheads="1"/>
            </p:cNvSpPr>
            <p:nvPr/>
          </p:nvSpPr>
          <p:spPr bwMode="auto">
            <a:xfrm>
              <a:off x="222103" y="2660719"/>
              <a:ext cx="2495202" cy="276999"/>
            </a:xfrm>
            <a:prstGeom prst="rect">
              <a:avLst/>
            </a:prstGeom>
            <a:noFill/>
            <a:ln w="25400">
              <a:noFill/>
              <a:miter lim="800000"/>
              <a:headEnd/>
              <a:tailEnd/>
            </a:ln>
          </p:spPr>
          <p:txBody>
            <a:bodyPr wrap="square">
              <a:spAutoFit/>
            </a:bodyPr>
            <a:lstStyle/>
            <a:p>
              <a:pPr fontAlgn="auto">
                <a:spcBef>
                  <a:spcPts val="0"/>
                </a:spcBef>
                <a:spcAft>
                  <a:spcPts val="0"/>
                </a:spcAft>
                <a:defRPr/>
              </a:pPr>
              <a:r>
                <a:rPr lang="en-US" sz="1200" b="1">
                  <a:solidFill>
                    <a:schemeClr val="accent6">
                      <a:lumMod val="50000"/>
                    </a:schemeClr>
                  </a:solidFill>
                  <a:latin typeface="Arial" pitchFamily="34" charset="0"/>
                  <a:cs typeface="Arial" pitchFamily="34" charset="0"/>
                </a:rPr>
                <a:t>11. Bán vé xem phim 2 – Phân quyền </a:t>
              </a:r>
            </a:p>
          </p:txBody>
        </p:sp>
      </p:grpSp>
    </p:spTree>
    <p:extLst>
      <p:ext uri="{BB962C8B-B14F-4D97-AF65-F5344CB8AC3E}">
        <p14:creationId xmlns:p14="http://schemas.microsoft.com/office/powerpoint/2010/main" val="171464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barn(inVertical)">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barn(inVertical)">
                                      <p:cBhvr>
                                        <p:cTn id="3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26" grpId="0" animBg="1"/>
      <p:bldP spid="2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2"/>
          <p:cNvSpPr txBox="1">
            <a:spLocks noChangeArrowheads="1"/>
          </p:cNvSpPr>
          <p:nvPr/>
        </p:nvSpPr>
        <p:spPr bwMode="auto">
          <a:xfrm>
            <a:off x="185654" y="908720"/>
            <a:ext cx="8778834" cy="830997"/>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Ngữ cảnh </a:t>
            </a:r>
            <a:br>
              <a:rPr lang="en-US" sz="1200">
                <a:latin typeface="Arial" pitchFamily="34" charset="0"/>
                <a:cs typeface="Arial" pitchFamily="34" charset="0"/>
              </a:rPr>
            </a:br>
            <a:r>
              <a:rPr lang="en-US" sz="1200">
                <a:latin typeface="Arial" pitchFamily="34" charset="0"/>
                <a:cs typeface="Arial" pitchFamily="34" charset="0"/>
              </a:rPr>
              <a:t>  Gia đình X có trung bình 4 thành viên với thông tin cần quản lý chỉ bao gồm Họ tên, Giới tính, Ngày sinh, Hình. Mỗi thành viên đều có  các khoản thu, khoản chi riêng .( giả sử chưa xem xét thu chi chung của cả gia đình  ) với thông tin cần ghi nhận  bao gồm ngày thu/chi , số tiền. </a:t>
            </a:r>
            <a:endParaRPr lang="en-US" sz="1200" b="1">
              <a:latin typeface="Arial" pitchFamily="34" charset="0"/>
              <a:cs typeface="Arial" pitchFamily="34" charset="0"/>
            </a:endParaRPr>
          </a:p>
        </p:txBody>
      </p:sp>
      <p:sp>
        <p:nvSpPr>
          <p:cNvPr id="14" name="Rounded Rectangle 13">
            <a:hlinkClick r:id="rId3" action="ppaction://hlinksldjump"/>
          </p:cNvPr>
          <p:cNvSpPr/>
          <p:nvPr/>
        </p:nvSpPr>
        <p:spPr>
          <a:xfrm>
            <a:off x="3851920" y="159200"/>
            <a:ext cx="2880320" cy="576064"/>
          </a:xfrm>
          <a:prstGeom prst="roundRect">
            <a:avLst/>
          </a:prstGeom>
          <a:solidFill>
            <a:schemeClr val="tx2">
              <a:lumMod val="75000"/>
            </a:schemeClr>
          </a:solidFill>
          <a:ln>
            <a:solidFill>
              <a:srgbClr val="002060"/>
            </a:solidFill>
          </a:ln>
          <a:effectLst>
            <a:outerShdw blurRad="482600" dir="5400000" sx="89000" sy="89000" algn="ctr" rotWithShape="0">
              <a:srgbClr val="000000">
                <a:alpha val="49000"/>
              </a:srgbClr>
            </a:outerShdw>
          </a:effectLst>
          <a:scene3d>
            <a:camera prst="orthographicFront"/>
            <a:lightRig rig="twoPt" dir="t"/>
          </a:scene3d>
          <a:sp3d extrusionH="12700" prstMaterial="translucentPowder">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b="1">
                <a:solidFill>
                  <a:srgbClr val="FFFF00"/>
                </a:solidFill>
              </a:rPr>
              <a:t>Quản</a:t>
            </a:r>
            <a:r>
              <a:rPr lang="en-US" sz="1600" b="1">
                <a:solidFill>
                  <a:srgbClr val="FFFF00"/>
                </a:solidFill>
              </a:rPr>
              <a:t> lý thu chi gia đình </a:t>
            </a:r>
            <a:br>
              <a:rPr lang="en-US" sz="1600" b="1">
                <a:solidFill>
                  <a:srgbClr val="FFFF00"/>
                </a:solidFill>
              </a:rPr>
            </a:br>
            <a:r>
              <a:rPr lang="en-US" sz="1600" b="1">
                <a:solidFill>
                  <a:schemeClr val="bg1"/>
                </a:solidFill>
              </a:rPr>
              <a:t>Yêu cầu </a:t>
            </a:r>
            <a:endParaRPr lang="vi-VN" sz="1600" b="1">
              <a:solidFill>
                <a:srgbClr val="FFFF00"/>
              </a:solidFill>
            </a:endParaRPr>
          </a:p>
        </p:txBody>
      </p:sp>
      <p:sp>
        <p:nvSpPr>
          <p:cNvPr id="16" name="Footer Placeholder 1"/>
          <p:cNvSpPr>
            <a:spLocks noGrp="1"/>
          </p:cNvSpPr>
          <p:nvPr>
            <p:ph type="ftr" sz="quarter" idx="11"/>
          </p:nvPr>
        </p:nvSpPr>
        <p:spPr>
          <a:xfrm>
            <a:off x="2702710" y="6359842"/>
            <a:ext cx="3723827" cy="365125"/>
          </a:xfrm>
        </p:spPr>
        <p:txBody>
          <a:bodyPr/>
          <a:lstStyle/>
          <a:p>
            <a:pPr>
              <a:defRPr/>
            </a:pPr>
            <a:r>
              <a:rPr lang="vi-VN" sz="1600" b="1">
                <a:solidFill>
                  <a:schemeClr val="tx1"/>
                </a:solidFill>
              </a:rPr>
              <a:t>Nguyễn tiến Huy - Tháng 3/2025</a:t>
            </a:r>
          </a:p>
        </p:txBody>
      </p:sp>
      <p:sp>
        <p:nvSpPr>
          <p:cNvPr id="9" name="TextBox 102"/>
          <p:cNvSpPr txBox="1">
            <a:spLocks noChangeArrowheads="1"/>
          </p:cNvSpPr>
          <p:nvPr/>
        </p:nvSpPr>
        <p:spPr bwMode="auto">
          <a:xfrm>
            <a:off x="207509" y="1913173"/>
            <a:ext cx="4076460"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Yêu cầu  của ứng dụng </a:t>
            </a:r>
            <a:br>
              <a:rPr lang="en-US" sz="1200">
                <a:latin typeface="Arial" pitchFamily="34" charset="0"/>
                <a:cs typeface="Arial" pitchFamily="34" charset="0"/>
              </a:rPr>
            </a:br>
            <a:r>
              <a:rPr lang="en-US" sz="1200">
                <a:latin typeface="Arial" pitchFamily="34" charset="0"/>
                <a:cs typeface="Arial" pitchFamily="34" charset="0"/>
              </a:rPr>
              <a:t>   . Xây dựng ứng dụng cho phép người dùng </a:t>
            </a:r>
            <a:br>
              <a:rPr lang="en-US" sz="1200">
                <a:latin typeface="Arial" pitchFamily="34" charset="0"/>
                <a:cs typeface="Arial" pitchFamily="34" charset="0"/>
              </a:rPr>
            </a:br>
            <a:r>
              <a:rPr lang="en-US" sz="1200">
                <a:latin typeface="Arial" pitchFamily="34" charset="0"/>
                <a:cs typeface="Arial" pitchFamily="34" charset="0"/>
              </a:rPr>
              <a:t>1. Quản lý được các khoản thu, Khoản chi</a:t>
            </a:r>
            <a:br>
              <a:rPr lang="en-US" sz="1200">
                <a:latin typeface="Arial" pitchFamily="34" charset="0"/>
                <a:cs typeface="Arial" pitchFamily="34" charset="0"/>
              </a:rPr>
            </a:br>
            <a:r>
              <a:rPr lang="en-US" sz="1200">
                <a:latin typeface="Arial" pitchFamily="34" charset="0"/>
                <a:cs typeface="Arial" pitchFamily="34" charset="0"/>
              </a:rPr>
              <a:t>2. Tra cứu việc thu chi theo : Thành viên, Ngày, Số tiền </a:t>
            </a:r>
            <a:br>
              <a:rPr lang="en-US" sz="1200">
                <a:latin typeface="Arial" pitchFamily="34" charset="0"/>
                <a:cs typeface="Arial" pitchFamily="34" charset="0"/>
              </a:rPr>
            </a:br>
            <a:r>
              <a:rPr lang="en-US" sz="1200">
                <a:latin typeface="Arial" pitchFamily="34" charset="0"/>
                <a:cs typeface="Arial" pitchFamily="34" charset="0"/>
              </a:rPr>
              <a:t>3. Lập các báo cáo thống kê thu/chi theo các biểu mẩu </a:t>
            </a:r>
            <a:endParaRPr lang="en-US" sz="1200" b="1">
              <a:latin typeface="Arial" pitchFamily="34" charset="0"/>
              <a:cs typeface="Arial" pitchFamily="34" charset="0"/>
            </a:endParaRPr>
          </a:p>
        </p:txBody>
      </p:sp>
      <p:sp>
        <p:nvSpPr>
          <p:cNvPr id="17" name="TextBox 102"/>
          <p:cNvSpPr txBox="1">
            <a:spLocks noChangeArrowheads="1"/>
          </p:cNvSpPr>
          <p:nvPr/>
        </p:nvSpPr>
        <p:spPr bwMode="auto">
          <a:xfrm>
            <a:off x="4564623" y="3068204"/>
            <a:ext cx="4041307"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BM4                    Thồng kê thu năm</a:t>
            </a:r>
            <a:br>
              <a:rPr lang="en-US" sz="1200">
                <a:latin typeface="Arial" pitchFamily="34" charset="0"/>
                <a:cs typeface="Arial" pitchFamily="34" charset="0"/>
              </a:rPr>
            </a:br>
            <a:r>
              <a:rPr lang="en-US" sz="1200">
                <a:latin typeface="Arial" pitchFamily="34" charset="0"/>
                <a:cs typeface="Arial" pitchFamily="34" charset="0"/>
              </a:rPr>
              <a:t>                     Năm : ……. Tổng thu  :…….</a:t>
            </a:r>
            <a:br>
              <a:rPr lang="en-US" sz="1200">
                <a:latin typeface="Arial" pitchFamily="34" charset="0"/>
                <a:cs typeface="Arial" pitchFamily="34" charset="0"/>
              </a:rPr>
            </a:br>
            <a:r>
              <a:rPr lang="en-US" sz="1200">
                <a:latin typeface="Arial" pitchFamily="34" charset="0"/>
                <a:cs typeface="Arial" pitchFamily="34" charset="0"/>
              </a:rPr>
              <a:t>Tháng      Thu       Tỷ lệ </a:t>
            </a:r>
          </a:p>
          <a:p>
            <a:pPr fontAlgn="auto">
              <a:spcBef>
                <a:spcPts val="0"/>
              </a:spcBef>
              <a:spcAft>
                <a:spcPts val="0"/>
              </a:spcAft>
              <a:defRPr/>
            </a:pPr>
            <a:r>
              <a:rPr lang="en-US" sz="1200" b="1">
                <a:latin typeface="Arial" pitchFamily="34" charset="0"/>
                <a:cs typeface="Arial" pitchFamily="34" charset="0"/>
              </a:rPr>
              <a:t>  1 </a:t>
            </a:r>
          </a:p>
          <a:p>
            <a:pPr fontAlgn="auto">
              <a:spcBef>
                <a:spcPts val="0"/>
              </a:spcBef>
              <a:spcAft>
                <a:spcPts val="0"/>
              </a:spcAft>
              <a:defRPr/>
            </a:pPr>
            <a:r>
              <a:rPr lang="en-US" sz="1200" b="1">
                <a:latin typeface="Arial" pitchFamily="34" charset="0"/>
                <a:cs typeface="Arial" pitchFamily="34" charset="0"/>
              </a:rPr>
              <a:t> …</a:t>
            </a:r>
          </a:p>
        </p:txBody>
      </p:sp>
      <p:sp>
        <p:nvSpPr>
          <p:cNvPr id="18" name="TextBox 102"/>
          <p:cNvSpPr txBox="1">
            <a:spLocks noChangeArrowheads="1"/>
          </p:cNvSpPr>
          <p:nvPr/>
        </p:nvSpPr>
        <p:spPr bwMode="auto">
          <a:xfrm>
            <a:off x="242661" y="4223235"/>
            <a:ext cx="4041307"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BM2             Thồng kê chi tháng</a:t>
            </a:r>
            <a:br>
              <a:rPr lang="en-US" sz="1200">
                <a:latin typeface="Arial" pitchFamily="34" charset="0"/>
                <a:cs typeface="Arial" pitchFamily="34" charset="0"/>
              </a:rPr>
            </a:br>
            <a:r>
              <a:rPr lang="en-US" sz="1200">
                <a:latin typeface="Arial" pitchFamily="34" charset="0"/>
                <a:cs typeface="Arial" pitchFamily="34" charset="0"/>
              </a:rPr>
              <a:t>                     Tháng : ……. Tổng chi  :…….</a:t>
            </a:r>
            <a:br>
              <a:rPr lang="en-US" sz="1200">
                <a:latin typeface="Arial" pitchFamily="34" charset="0"/>
                <a:cs typeface="Arial" pitchFamily="34" charset="0"/>
              </a:rPr>
            </a:br>
            <a:r>
              <a:rPr lang="en-US" sz="1200">
                <a:latin typeface="Arial" pitchFamily="34" charset="0"/>
                <a:cs typeface="Arial" pitchFamily="34" charset="0"/>
              </a:rPr>
              <a:t>Thành viên     Chi       Tỷ lệ </a:t>
            </a:r>
          </a:p>
          <a:p>
            <a:pPr fontAlgn="auto">
              <a:spcBef>
                <a:spcPts val="0"/>
              </a:spcBef>
              <a:spcAft>
                <a:spcPts val="0"/>
              </a:spcAft>
              <a:defRPr/>
            </a:pPr>
            <a:r>
              <a:rPr lang="en-US" sz="1200" b="1">
                <a:latin typeface="Arial" pitchFamily="34" charset="0"/>
                <a:cs typeface="Arial" pitchFamily="34" charset="0"/>
              </a:rPr>
              <a:t>……</a:t>
            </a:r>
          </a:p>
          <a:p>
            <a:pPr fontAlgn="auto">
              <a:spcBef>
                <a:spcPts val="0"/>
              </a:spcBef>
              <a:spcAft>
                <a:spcPts val="0"/>
              </a:spcAft>
              <a:defRPr/>
            </a:pPr>
            <a:r>
              <a:rPr lang="en-US" sz="1200" b="1">
                <a:latin typeface="Arial" pitchFamily="34" charset="0"/>
                <a:cs typeface="Arial" pitchFamily="34" charset="0"/>
              </a:rPr>
              <a:t>……..</a:t>
            </a:r>
          </a:p>
        </p:txBody>
      </p:sp>
      <p:sp>
        <p:nvSpPr>
          <p:cNvPr id="19" name="TextBox 102"/>
          <p:cNvSpPr txBox="1">
            <a:spLocks noChangeArrowheads="1"/>
          </p:cNvSpPr>
          <p:nvPr/>
        </p:nvSpPr>
        <p:spPr bwMode="auto">
          <a:xfrm>
            <a:off x="265966" y="5339301"/>
            <a:ext cx="4018002"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BM3             Thồng kê Thu -Chi tháng</a:t>
            </a:r>
            <a:br>
              <a:rPr lang="en-US" sz="1200">
                <a:latin typeface="Arial" pitchFamily="34" charset="0"/>
                <a:cs typeface="Arial" pitchFamily="34" charset="0"/>
              </a:rPr>
            </a:br>
            <a:r>
              <a:rPr lang="en-US" sz="1200">
                <a:latin typeface="Arial" pitchFamily="34" charset="0"/>
                <a:cs typeface="Arial" pitchFamily="34" charset="0"/>
              </a:rPr>
              <a:t>            Tháng : ……. Tổng thu   :…….Tổng chi </a:t>
            </a:r>
            <a:br>
              <a:rPr lang="en-US" sz="1200">
                <a:latin typeface="Arial" pitchFamily="34" charset="0"/>
                <a:cs typeface="Arial" pitchFamily="34" charset="0"/>
              </a:rPr>
            </a:br>
            <a:r>
              <a:rPr lang="en-US" sz="1200">
                <a:latin typeface="Arial" pitchFamily="34" charset="0"/>
                <a:cs typeface="Arial" pitchFamily="34" charset="0"/>
              </a:rPr>
              <a:t>Thành viên     Thu    Chi      Chênh lệch </a:t>
            </a:r>
          </a:p>
          <a:p>
            <a:pPr fontAlgn="auto">
              <a:spcBef>
                <a:spcPts val="0"/>
              </a:spcBef>
              <a:spcAft>
                <a:spcPts val="0"/>
              </a:spcAft>
              <a:defRPr/>
            </a:pPr>
            <a:r>
              <a:rPr lang="en-US" sz="1200" b="1">
                <a:latin typeface="Arial" pitchFamily="34" charset="0"/>
                <a:cs typeface="Arial" pitchFamily="34" charset="0"/>
              </a:rPr>
              <a:t>……</a:t>
            </a:r>
          </a:p>
          <a:p>
            <a:pPr fontAlgn="auto">
              <a:spcBef>
                <a:spcPts val="0"/>
              </a:spcBef>
              <a:spcAft>
                <a:spcPts val="0"/>
              </a:spcAft>
              <a:defRPr/>
            </a:pPr>
            <a:r>
              <a:rPr lang="en-US" sz="1200" b="1">
                <a:latin typeface="Arial" pitchFamily="34" charset="0"/>
                <a:cs typeface="Arial" pitchFamily="34" charset="0"/>
              </a:rPr>
              <a:t>……..</a:t>
            </a:r>
          </a:p>
        </p:txBody>
      </p:sp>
      <p:sp>
        <p:nvSpPr>
          <p:cNvPr id="20" name="TextBox 102"/>
          <p:cNvSpPr txBox="1">
            <a:spLocks noChangeArrowheads="1"/>
          </p:cNvSpPr>
          <p:nvPr/>
        </p:nvSpPr>
        <p:spPr bwMode="auto">
          <a:xfrm>
            <a:off x="207508" y="3115967"/>
            <a:ext cx="4041307"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BM1                    Thồng kê thu tháng</a:t>
            </a:r>
            <a:br>
              <a:rPr lang="en-US" sz="1200">
                <a:latin typeface="Arial" pitchFamily="34" charset="0"/>
                <a:cs typeface="Arial" pitchFamily="34" charset="0"/>
              </a:rPr>
            </a:br>
            <a:r>
              <a:rPr lang="en-US" sz="1200">
                <a:latin typeface="Arial" pitchFamily="34" charset="0"/>
                <a:cs typeface="Arial" pitchFamily="34" charset="0"/>
              </a:rPr>
              <a:t>                     Tháng : ……. Tổng thu  :…….</a:t>
            </a:r>
            <a:br>
              <a:rPr lang="en-US" sz="1200">
                <a:latin typeface="Arial" pitchFamily="34" charset="0"/>
                <a:cs typeface="Arial" pitchFamily="34" charset="0"/>
              </a:rPr>
            </a:br>
            <a:r>
              <a:rPr lang="en-US" sz="1200">
                <a:latin typeface="Arial" pitchFamily="34" charset="0"/>
                <a:cs typeface="Arial" pitchFamily="34" charset="0"/>
              </a:rPr>
              <a:t>Thành viên     Thu       Tỷ lệ </a:t>
            </a:r>
          </a:p>
          <a:p>
            <a:pPr fontAlgn="auto">
              <a:spcBef>
                <a:spcPts val="0"/>
              </a:spcBef>
              <a:spcAft>
                <a:spcPts val="0"/>
              </a:spcAft>
              <a:defRPr/>
            </a:pPr>
            <a:r>
              <a:rPr lang="en-US" sz="1200" b="1">
                <a:latin typeface="Arial" pitchFamily="34" charset="0"/>
                <a:cs typeface="Arial" pitchFamily="34" charset="0"/>
              </a:rPr>
              <a:t>……</a:t>
            </a:r>
          </a:p>
          <a:p>
            <a:pPr fontAlgn="auto">
              <a:spcBef>
                <a:spcPts val="0"/>
              </a:spcBef>
              <a:spcAft>
                <a:spcPts val="0"/>
              </a:spcAft>
              <a:defRPr/>
            </a:pPr>
            <a:r>
              <a:rPr lang="en-US" sz="1200" b="1">
                <a:latin typeface="Arial" pitchFamily="34" charset="0"/>
                <a:cs typeface="Arial" pitchFamily="34" charset="0"/>
              </a:rPr>
              <a:t>……..</a:t>
            </a:r>
          </a:p>
        </p:txBody>
      </p:sp>
      <p:sp>
        <p:nvSpPr>
          <p:cNvPr id="21" name="TextBox 102"/>
          <p:cNvSpPr txBox="1">
            <a:spLocks noChangeArrowheads="1"/>
          </p:cNvSpPr>
          <p:nvPr/>
        </p:nvSpPr>
        <p:spPr bwMode="auto">
          <a:xfrm>
            <a:off x="4564623" y="4227013"/>
            <a:ext cx="4041307"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BM5                    Thồng kê chi năm</a:t>
            </a:r>
            <a:br>
              <a:rPr lang="en-US" sz="1200">
                <a:latin typeface="Arial" pitchFamily="34" charset="0"/>
                <a:cs typeface="Arial" pitchFamily="34" charset="0"/>
              </a:rPr>
            </a:br>
            <a:r>
              <a:rPr lang="en-US" sz="1200">
                <a:latin typeface="Arial" pitchFamily="34" charset="0"/>
                <a:cs typeface="Arial" pitchFamily="34" charset="0"/>
              </a:rPr>
              <a:t>                     Năm : ……. Tổng chi  :…….</a:t>
            </a:r>
            <a:br>
              <a:rPr lang="en-US" sz="1200">
                <a:latin typeface="Arial" pitchFamily="34" charset="0"/>
                <a:cs typeface="Arial" pitchFamily="34" charset="0"/>
              </a:rPr>
            </a:br>
            <a:r>
              <a:rPr lang="en-US" sz="1200">
                <a:latin typeface="Arial" pitchFamily="34" charset="0"/>
                <a:cs typeface="Arial" pitchFamily="34" charset="0"/>
              </a:rPr>
              <a:t>Tháng      Chi        Tỷ lệ </a:t>
            </a:r>
          </a:p>
          <a:p>
            <a:pPr fontAlgn="auto">
              <a:spcBef>
                <a:spcPts val="0"/>
              </a:spcBef>
              <a:spcAft>
                <a:spcPts val="0"/>
              </a:spcAft>
              <a:defRPr/>
            </a:pPr>
            <a:r>
              <a:rPr lang="en-US" sz="1200" b="1">
                <a:latin typeface="Arial" pitchFamily="34" charset="0"/>
                <a:cs typeface="Arial" pitchFamily="34" charset="0"/>
              </a:rPr>
              <a:t>  1 </a:t>
            </a:r>
          </a:p>
          <a:p>
            <a:pPr fontAlgn="auto">
              <a:spcBef>
                <a:spcPts val="0"/>
              </a:spcBef>
              <a:spcAft>
                <a:spcPts val="0"/>
              </a:spcAft>
              <a:defRPr/>
            </a:pPr>
            <a:r>
              <a:rPr lang="en-US" sz="1200" b="1">
                <a:latin typeface="Arial" pitchFamily="34" charset="0"/>
                <a:cs typeface="Arial" pitchFamily="34" charset="0"/>
              </a:rPr>
              <a:t> …</a:t>
            </a:r>
          </a:p>
        </p:txBody>
      </p:sp>
      <p:sp>
        <p:nvSpPr>
          <p:cNvPr id="22" name="TextBox 102"/>
          <p:cNvSpPr txBox="1">
            <a:spLocks noChangeArrowheads="1"/>
          </p:cNvSpPr>
          <p:nvPr/>
        </p:nvSpPr>
        <p:spPr bwMode="auto">
          <a:xfrm>
            <a:off x="4565830" y="5347957"/>
            <a:ext cx="4041307"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BM6                    Thồng kê Thu - Chi năm</a:t>
            </a:r>
            <a:br>
              <a:rPr lang="en-US" sz="1200">
                <a:latin typeface="Arial" pitchFamily="34" charset="0"/>
                <a:cs typeface="Arial" pitchFamily="34" charset="0"/>
              </a:rPr>
            </a:br>
            <a:r>
              <a:rPr lang="en-US" sz="1200">
                <a:latin typeface="Arial" pitchFamily="34" charset="0"/>
                <a:cs typeface="Arial" pitchFamily="34" charset="0"/>
              </a:rPr>
              <a:t>           Năm : …….Tổng thu :…… Tổng chi  :…….</a:t>
            </a:r>
            <a:br>
              <a:rPr lang="en-US" sz="1200">
                <a:latin typeface="Arial" pitchFamily="34" charset="0"/>
                <a:cs typeface="Arial" pitchFamily="34" charset="0"/>
              </a:rPr>
            </a:br>
            <a:r>
              <a:rPr lang="en-US" sz="1200">
                <a:latin typeface="Arial" pitchFamily="34" charset="0"/>
                <a:cs typeface="Arial" pitchFamily="34" charset="0"/>
              </a:rPr>
              <a:t>Tháng      Thu     Chi       Chênh lệch</a:t>
            </a:r>
          </a:p>
          <a:p>
            <a:pPr fontAlgn="auto">
              <a:spcBef>
                <a:spcPts val="0"/>
              </a:spcBef>
              <a:spcAft>
                <a:spcPts val="0"/>
              </a:spcAft>
              <a:defRPr/>
            </a:pPr>
            <a:r>
              <a:rPr lang="en-US" sz="1200" b="1">
                <a:latin typeface="Arial" pitchFamily="34" charset="0"/>
                <a:cs typeface="Arial" pitchFamily="34" charset="0"/>
              </a:rPr>
              <a:t>  1 </a:t>
            </a:r>
          </a:p>
          <a:p>
            <a:pPr fontAlgn="auto">
              <a:spcBef>
                <a:spcPts val="0"/>
              </a:spcBef>
              <a:spcAft>
                <a:spcPts val="0"/>
              </a:spcAft>
              <a:defRPr/>
            </a:pPr>
            <a:r>
              <a:rPr lang="en-US" sz="1200" b="1">
                <a:latin typeface="Arial" pitchFamily="34" charset="0"/>
                <a:cs typeface="Arial" pitchFamily="34" charset="0"/>
              </a:rPr>
              <a:t> …</a:t>
            </a:r>
          </a:p>
        </p:txBody>
      </p:sp>
    </p:spTree>
    <p:extLst>
      <p:ext uri="{BB962C8B-B14F-4D97-AF65-F5344CB8AC3E}">
        <p14:creationId xmlns:p14="http://schemas.microsoft.com/office/powerpoint/2010/main" val="333840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2"/>
          <p:cNvSpPr txBox="1">
            <a:spLocks noChangeArrowheads="1"/>
          </p:cNvSpPr>
          <p:nvPr/>
        </p:nvSpPr>
        <p:spPr bwMode="auto">
          <a:xfrm>
            <a:off x="185654" y="908720"/>
            <a:ext cx="8778834" cy="830997"/>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Ngữ cảnh </a:t>
            </a:r>
            <a:br>
              <a:rPr lang="en-US" sz="1200">
                <a:latin typeface="Arial" pitchFamily="34" charset="0"/>
                <a:cs typeface="Arial" pitchFamily="34" charset="0"/>
              </a:rPr>
            </a:br>
            <a:r>
              <a:rPr lang="en-US" sz="1200">
                <a:latin typeface="Arial" pitchFamily="34" charset="0"/>
                <a:cs typeface="Arial" pitchFamily="34" charset="0"/>
              </a:rPr>
              <a:t>  Gia đình X có trung bình 4 thành viên với thông tin cần quản lý chỉ bao gồm Họ tên, Giới tính, Ngày sinh, Hình. Mỗi thành viên đều có  các khoản thu, khoản chi riêng .( giả sử chưa xem xét thu chi chung của cả gia đình  ) với thông tin cần ghi nhận  bao gồm ngày thu/chi , số tiền. </a:t>
            </a:r>
            <a:endParaRPr lang="en-US" sz="1200" b="1">
              <a:latin typeface="Arial" pitchFamily="34" charset="0"/>
              <a:cs typeface="Arial" pitchFamily="34" charset="0"/>
            </a:endParaRPr>
          </a:p>
        </p:txBody>
      </p:sp>
      <p:sp>
        <p:nvSpPr>
          <p:cNvPr id="14" name="Rounded Rectangle 13">
            <a:hlinkClick r:id="rId3" action="ppaction://hlinksldjump"/>
          </p:cNvPr>
          <p:cNvSpPr/>
          <p:nvPr/>
        </p:nvSpPr>
        <p:spPr>
          <a:xfrm>
            <a:off x="2843808" y="159200"/>
            <a:ext cx="3240359" cy="576064"/>
          </a:xfrm>
          <a:prstGeom prst="roundRect">
            <a:avLst/>
          </a:prstGeom>
          <a:solidFill>
            <a:schemeClr val="tx2">
              <a:lumMod val="75000"/>
            </a:schemeClr>
          </a:solidFill>
          <a:ln>
            <a:solidFill>
              <a:srgbClr val="002060"/>
            </a:solidFill>
          </a:ln>
          <a:effectLst>
            <a:outerShdw blurRad="482600" dir="5400000" sx="89000" sy="89000" algn="ctr" rotWithShape="0">
              <a:srgbClr val="000000">
                <a:alpha val="49000"/>
              </a:srgbClr>
            </a:outerShdw>
          </a:effectLst>
          <a:scene3d>
            <a:camera prst="orthographicFront"/>
            <a:lightRig rig="twoPt" dir="t"/>
          </a:scene3d>
          <a:sp3d extrusionH="12700" prstMaterial="translucentPowder">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b="1">
                <a:solidFill>
                  <a:srgbClr val="FFFF00"/>
                </a:solidFill>
              </a:rPr>
              <a:t>Quản</a:t>
            </a:r>
            <a:r>
              <a:rPr lang="en-US" sz="1600" b="1">
                <a:solidFill>
                  <a:srgbClr val="FFFF00"/>
                </a:solidFill>
              </a:rPr>
              <a:t> lý thu chi gia đình</a:t>
            </a:r>
            <a:br>
              <a:rPr lang="en-US" sz="1600" b="1">
                <a:solidFill>
                  <a:srgbClr val="FFFF00"/>
                </a:solidFill>
              </a:rPr>
            </a:br>
            <a:r>
              <a:rPr lang="en-US" sz="1600" b="1">
                <a:solidFill>
                  <a:schemeClr val="bg1"/>
                </a:solidFill>
              </a:rPr>
              <a:t>Đối tượng – Thuộc tính - Quan hệ</a:t>
            </a:r>
            <a:endParaRPr lang="vi-VN" sz="1600" b="1">
              <a:solidFill>
                <a:srgbClr val="FFFF00"/>
              </a:solidFill>
            </a:endParaRPr>
          </a:p>
        </p:txBody>
      </p:sp>
      <p:sp>
        <p:nvSpPr>
          <p:cNvPr id="16" name="Footer Placeholder 1"/>
          <p:cNvSpPr>
            <a:spLocks noGrp="1"/>
          </p:cNvSpPr>
          <p:nvPr>
            <p:ph type="ftr" sz="quarter" idx="11"/>
          </p:nvPr>
        </p:nvSpPr>
        <p:spPr>
          <a:xfrm>
            <a:off x="2702710" y="6359842"/>
            <a:ext cx="3723827" cy="365125"/>
          </a:xfrm>
        </p:spPr>
        <p:txBody>
          <a:bodyPr/>
          <a:lstStyle/>
          <a:p>
            <a:pPr>
              <a:defRPr/>
            </a:pPr>
            <a:r>
              <a:rPr lang="vi-VN" sz="1600" b="1">
                <a:solidFill>
                  <a:schemeClr val="tx1"/>
                </a:solidFill>
              </a:rPr>
              <a:t>Nguyễn tiến Huy - Tháng 3/2025</a:t>
            </a:r>
          </a:p>
        </p:txBody>
      </p:sp>
      <p:sp>
        <p:nvSpPr>
          <p:cNvPr id="9" name="TextBox 102"/>
          <p:cNvSpPr txBox="1">
            <a:spLocks noChangeArrowheads="1"/>
          </p:cNvSpPr>
          <p:nvPr/>
        </p:nvSpPr>
        <p:spPr bwMode="auto">
          <a:xfrm>
            <a:off x="207509" y="1913173"/>
            <a:ext cx="4076460"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Yêu cầu  của ứng dụng </a:t>
            </a:r>
            <a:br>
              <a:rPr lang="en-US" sz="1200">
                <a:latin typeface="Arial" pitchFamily="34" charset="0"/>
                <a:cs typeface="Arial" pitchFamily="34" charset="0"/>
              </a:rPr>
            </a:br>
            <a:r>
              <a:rPr lang="en-US" sz="1200">
                <a:latin typeface="Arial" pitchFamily="34" charset="0"/>
                <a:cs typeface="Arial" pitchFamily="34" charset="0"/>
              </a:rPr>
              <a:t>   . Xây dựng ứng dụng cho phép người dùng </a:t>
            </a:r>
            <a:br>
              <a:rPr lang="en-US" sz="1200">
                <a:latin typeface="Arial" pitchFamily="34" charset="0"/>
                <a:cs typeface="Arial" pitchFamily="34" charset="0"/>
              </a:rPr>
            </a:br>
            <a:r>
              <a:rPr lang="en-US" sz="1200">
                <a:latin typeface="Arial" pitchFamily="34" charset="0"/>
                <a:cs typeface="Arial" pitchFamily="34" charset="0"/>
              </a:rPr>
              <a:t>1. Quản lý được các khoản thu, Khoản chi</a:t>
            </a:r>
            <a:br>
              <a:rPr lang="en-US" sz="1200">
                <a:latin typeface="Arial" pitchFamily="34" charset="0"/>
                <a:cs typeface="Arial" pitchFamily="34" charset="0"/>
              </a:rPr>
            </a:br>
            <a:r>
              <a:rPr lang="en-US" sz="1200">
                <a:latin typeface="Arial" pitchFamily="34" charset="0"/>
                <a:cs typeface="Arial" pitchFamily="34" charset="0"/>
              </a:rPr>
              <a:t>2. Tra cứu việc thu chi theo : Thành viên, Ngày, Số tiền </a:t>
            </a:r>
            <a:br>
              <a:rPr lang="en-US" sz="1200">
                <a:latin typeface="Arial" pitchFamily="34" charset="0"/>
                <a:cs typeface="Arial" pitchFamily="34" charset="0"/>
              </a:rPr>
            </a:br>
            <a:r>
              <a:rPr lang="en-US" sz="1200">
                <a:latin typeface="Arial" pitchFamily="34" charset="0"/>
                <a:cs typeface="Arial" pitchFamily="34" charset="0"/>
              </a:rPr>
              <a:t>3. Lập các báo cáo thống kê thu/chi theo các biểu mẩu </a:t>
            </a:r>
            <a:endParaRPr lang="en-US" sz="1200" b="1">
              <a:latin typeface="Arial" pitchFamily="34" charset="0"/>
              <a:cs typeface="Arial" pitchFamily="34" charset="0"/>
            </a:endParaRPr>
          </a:p>
        </p:txBody>
      </p:sp>
      <p:sp>
        <p:nvSpPr>
          <p:cNvPr id="20" name="TextBox 102"/>
          <p:cNvSpPr txBox="1">
            <a:spLocks noChangeArrowheads="1"/>
          </p:cNvSpPr>
          <p:nvPr/>
        </p:nvSpPr>
        <p:spPr bwMode="auto">
          <a:xfrm>
            <a:off x="4463987" y="1980861"/>
            <a:ext cx="2628293"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Đối tượng </a:t>
            </a:r>
            <a:br>
              <a:rPr lang="en-US" sz="1200">
                <a:latin typeface="Arial" pitchFamily="34" charset="0"/>
                <a:cs typeface="Arial" pitchFamily="34" charset="0"/>
              </a:rPr>
            </a:br>
            <a:r>
              <a:rPr lang="en-US" sz="1200">
                <a:latin typeface="Arial" pitchFamily="34" charset="0"/>
                <a:cs typeface="Arial" pitchFamily="34" charset="0"/>
              </a:rPr>
              <a:t>Con người : Thanh_vien</a:t>
            </a:r>
            <a:br>
              <a:rPr lang="en-US" sz="1200">
                <a:latin typeface="Arial" pitchFamily="34" charset="0"/>
                <a:cs typeface="Arial" pitchFamily="34" charset="0"/>
              </a:rPr>
            </a:br>
            <a:r>
              <a:rPr lang="en-US" sz="1200">
                <a:latin typeface="Arial" pitchFamily="34" charset="0"/>
                <a:cs typeface="Arial" pitchFamily="34" charset="0"/>
              </a:rPr>
              <a:t>Sự vật :</a:t>
            </a:r>
          </a:p>
          <a:p>
            <a:pPr fontAlgn="auto">
              <a:spcBef>
                <a:spcPts val="0"/>
              </a:spcBef>
              <a:spcAft>
                <a:spcPts val="0"/>
              </a:spcAft>
              <a:defRPr/>
            </a:pPr>
            <a:r>
              <a:rPr lang="en-US" sz="1200">
                <a:latin typeface="Arial" pitchFamily="34" charset="0"/>
                <a:cs typeface="Arial" pitchFamily="34" charset="0"/>
              </a:rPr>
              <a:t>Hoạt động : Khoan_thu, Khoan_chi</a:t>
            </a:r>
            <a:br>
              <a:rPr lang="en-US" sz="1200">
                <a:latin typeface="Arial" pitchFamily="34" charset="0"/>
                <a:cs typeface="Arial" pitchFamily="34" charset="0"/>
              </a:rPr>
            </a:br>
            <a:r>
              <a:rPr lang="en-US" sz="1200">
                <a:latin typeface="Arial" pitchFamily="34" charset="0"/>
                <a:cs typeface="Arial" pitchFamily="34" charset="0"/>
              </a:rPr>
              <a:t>Tổ chức : Gia_dinh</a:t>
            </a:r>
          </a:p>
        </p:txBody>
      </p:sp>
      <p:sp>
        <p:nvSpPr>
          <p:cNvPr id="21" name="TextBox 102"/>
          <p:cNvSpPr txBox="1">
            <a:spLocks noChangeArrowheads="1"/>
          </p:cNvSpPr>
          <p:nvPr/>
        </p:nvSpPr>
        <p:spPr bwMode="auto">
          <a:xfrm>
            <a:off x="4107638" y="3098168"/>
            <a:ext cx="2671673" cy="830997"/>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Quan hệ </a:t>
            </a:r>
            <a:br>
              <a:rPr lang="en-US" sz="1200">
                <a:latin typeface="Arial" pitchFamily="34" charset="0"/>
                <a:cs typeface="Arial" pitchFamily="34" charset="0"/>
              </a:rPr>
            </a:br>
            <a:r>
              <a:rPr lang="en-US" sz="1200">
                <a:latin typeface="Arial" pitchFamily="34" charset="0"/>
                <a:cs typeface="Arial" pitchFamily="34" charset="0"/>
              </a:rPr>
              <a:t>Thanh_vien  ---- *</a:t>
            </a:r>
            <a:r>
              <a:rPr lang="en-US" sz="1200">
                <a:latin typeface="Arial" pitchFamily="34" charset="0"/>
                <a:cs typeface="Arial" pitchFamily="34" charset="0"/>
                <a:sym typeface="Wingdings" panose="05000000000000000000" pitchFamily="2" charset="2"/>
              </a:rPr>
              <a:t>Khoan_thu</a:t>
            </a:r>
            <a:endParaRPr lang="en-US" sz="1200">
              <a:latin typeface="Arial" pitchFamily="34" charset="0"/>
              <a:cs typeface="Arial" pitchFamily="34" charset="0"/>
            </a:endParaRPr>
          </a:p>
          <a:p>
            <a:pPr fontAlgn="auto">
              <a:spcBef>
                <a:spcPts val="0"/>
              </a:spcBef>
              <a:spcAft>
                <a:spcPts val="0"/>
              </a:spcAft>
              <a:defRPr/>
            </a:pPr>
            <a:r>
              <a:rPr lang="en-US" sz="1200">
                <a:latin typeface="Arial" pitchFamily="34" charset="0"/>
                <a:cs typeface="Arial" pitchFamily="34" charset="0"/>
              </a:rPr>
              <a:t>Thanh_vien  ---- *</a:t>
            </a:r>
            <a:r>
              <a:rPr lang="en-US" sz="1200">
                <a:latin typeface="Arial" pitchFamily="34" charset="0"/>
                <a:cs typeface="Arial" pitchFamily="34" charset="0"/>
                <a:sym typeface="Wingdings" panose="05000000000000000000" pitchFamily="2" charset="2"/>
              </a:rPr>
              <a:t>Khoan_chi</a:t>
            </a:r>
            <a:endParaRPr lang="en-US" sz="1200">
              <a:latin typeface="Arial" pitchFamily="34" charset="0"/>
              <a:cs typeface="Arial" pitchFamily="34" charset="0"/>
            </a:endParaRPr>
          </a:p>
          <a:p>
            <a:pPr fontAlgn="auto">
              <a:spcBef>
                <a:spcPts val="0"/>
              </a:spcBef>
              <a:spcAft>
                <a:spcPts val="0"/>
              </a:spcAft>
              <a:defRPr/>
            </a:pPr>
            <a:endParaRPr lang="en-US" sz="1200" b="1">
              <a:latin typeface="Arial" pitchFamily="34" charset="0"/>
              <a:cs typeface="Arial" pitchFamily="34" charset="0"/>
            </a:endParaRPr>
          </a:p>
        </p:txBody>
      </p:sp>
      <p:sp>
        <p:nvSpPr>
          <p:cNvPr id="3" name="TextBox 102">
            <a:extLst>
              <a:ext uri="{FF2B5EF4-FFF2-40B4-BE49-F238E27FC236}">
                <a16:creationId xmlns:a16="http://schemas.microsoft.com/office/drawing/2014/main" id="{33AC3818-6D29-904A-0216-0810D45ECD50}"/>
              </a:ext>
            </a:extLst>
          </p:cNvPr>
          <p:cNvSpPr txBox="1">
            <a:spLocks noChangeArrowheads="1"/>
          </p:cNvSpPr>
          <p:nvPr/>
        </p:nvSpPr>
        <p:spPr bwMode="auto">
          <a:xfrm>
            <a:off x="172135" y="3039721"/>
            <a:ext cx="3528392" cy="830997"/>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002060"/>
                </a:solidFill>
                <a:latin typeface="Arial" pitchFamily="34" charset="0"/>
                <a:cs typeface="Arial" pitchFamily="34" charset="0"/>
              </a:rPr>
              <a:t>Thuộc tính</a:t>
            </a:r>
            <a:br>
              <a:rPr lang="en-US" sz="1200">
                <a:latin typeface="Arial" pitchFamily="34" charset="0"/>
                <a:cs typeface="Arial" pitchFamily="34" charset="0"/>
              </a:rPr>
            </a:br>
            <a:r>
              <a:rPr lang="en-US" sz="1200">
                <a:latin typeface="Arial" pitchFamily="34" charset="0"/>
                <a:cs typeface="Arial" pitchFamily="34" charset="0"/>
              </a:rPr>
              <a:t>Thanh_vien (Ho_ten,Gioi_tinh,Ngay_sinh,Hinh)</a:t>
            </a:r>
            <a:br>
              <a:rPr lang="en-US" sz="1200">
                <a:latin typeface="Arial" pitchFamily="34" charset="0"/>
                <a:cs typeface="Arial" pitchFamily="34" charset="0"/>
              </a:rPr>
            </a:br>
            <a:r>
              <a:rPr lang="en-US" sz="1200">
                <a:latin typeface="Arial" pitchFamily="34" charset="0"/>
                <a:cs typeface="Arial" pitchFamily="34" charset="0"/>
              </a:rPr>
              <a:t>Khoan_thu (Ngay_thu,So_tien)</a:t>
            </a:r>
          </a:p>
          <a:p>
            <a:pPr fontAlgn="auto">
              <a:spcBef>
                <a:spcPts val="0"/>
              </a:spcBef>
              <a:spcAft>
                <a:spcPts val="0"/>
              </a:spcAft>
              <a:defRPr/>
            </a:pPr>
            <a:r>
              <a:rPr lang="en-US" sz="1200">
                <a:latin typeface="Arial" pitchFamily="34" charset="0"/>
                <a:cs typeface="Arial" pitchFamily="34" charset="0"/>
              </a:rPr>
              <a:t>Khoan_chi (Ngay_chi,So_tien)</a:t>
            </a:r>
          </a:p>
        </p:txBody>
      </p:sp>
    </p:spTree>
    <p:extLst>
      <p:ext uri="{BB962C8B-B14F-4D97-AF65-F5344CB8AC3E}">
        <p14:creationId xmlns:p14="http://schemas.microsoft.com/office/powerpoint/2010/main" val="1824991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2"/>
          <p:cNvSpPr txBox="1">
            <a:spLocks noChangeArrowheads="1"/>
          </p:cNvSpPr>
          <p:nvPr/>
        </p:nvSpPr>
        <p:spPr bwMode="auto">
          <a:xfrm>
            <a:off x="185654" y="908720"/>
            <a:ext cx="8778834" cy="830997"/>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Ngữ cảnh </a:t>
            </a:r>
            <a:br>
              <a:rPr lang="en-US" sz="1200">
                <a:latin typeface="Arial" pitchFamily="34" charset="0"/>
                <a:cs typeface="Arial" pitchFamily="34" charset="0"/>
              </a:rPr>
            </a:br>
            <a:r>
              <a:rPr lang="en-US" sz="1200">
                <a:latin typeface="Arial" pitchFamily="34" charset="0"/>
                <a:cs typeface="Arial" pitchFamily="34" charset="0"/>
              </a:rPr>
              <a:t>  Gia đình X có trung bình 4 thành viên với thông tin cần quản lý chỉ bao gồm Họ tên, Giới tính, Ngày sinh, Hình. Mỗi thành viên đều có  các khoản thu, khoản chi riêng .( giả sử chưa xem xét thu chi chung của cả gia đình  ) với thông tin cần ghi nhận  bao gồm ngày thu/chi , số tiền. </a:t>
            </a:r>
            <a:endParaRPr lang="en-US" sz="1200" b="1">
              <a:latin typeface="Arial" pitchFamily="34" charset="0"/>
              <a:cs typeface="Arial" pitchFamily="34" charset="0"/>
            </a:endParaRPr>
          </a:p>
        </p:txBody>
      </p:sp>
      <p:sp>
        <p:nvSpPr>
          <p:cNvPr id="14" name="Rounded Rectangle 13">
            <a:hlinkClick r:id="rId3" action="ppaction://hlinksldjump"/>
          </p:cNvPr>
          <p:cNvSpPr/>
          <p:nvPr/>
        </p:nvSpPr>
        <p:spPr>
          <a:xfrm>
            <a:off x="2843808" y="159200"/>
            <a:ext cx="3240359" cy="576064"/>
          </a:xfrm>
          <a:prstGeom prst="roundRect">
            <a:avLst/>
          </a:prstGeom>
          <a:solidFill>
            <a:schemeClr val="tx2">
              <a:lumMod val="75000"/>
            </a:schemeClr>
          </a:solidFill>
          <a:ln>
            <a:solidFill>
              <a:srgbClr val="002060"/>
            </a:solidFill>
          </a:ln>
          <a:effectLst>
            <a:outerShdw blurRad="482600" dir="5400000" sx="89000" sy="89000" algn="ctr" rotWithShape="0">
              <a:srgbClr val="000000">
                <a:alpha val="49000"/>
              </a:srgbClr>
            </a:outerShdw>
          </a:effectLst>
          <a:scene3d>
            <a:camera prst="orthographicFront"/>
            <a:lightRig rig="twoPt" dir="t"/>
          </a:scene3d>
          <a:sp3d extrusionH="12700" prstMaterial="translucentPowder">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b="1">
                <a:solidFill>
                  <a:srgbClr val="FFFF00"/>
                </a:solidFill>
              </a:rPr>
              <a:t>Quản</a:t>
            </a:r>
            <a:r>
              <a:rPr lang="en-US" sz="1600" b="1">
                <a:solidFill>
                  <a:srgbClr val="FFFF00"/>
                </a:solidFill>
              </a:rPr>
              <a:t> lý thu chi gia đình</a:t>
            </a:r>
            <a:br>
              <a:rPr lang="en-US" sz="1600" b="1">
                <a:solidFill>
                  <a:srgbClr val="FFFF00"/>
                </a:solidFill>
              </a:rPr>
            </a:br>
            <a:r>
              <a:rPr lang="en-US" sz="1600" b="1">
                <a:solidFill>
                  <a:schemeClr val="bg1"/>
                </a:solidFill>
              </a:rPr>
              <a:t>Sơ đồ lớp đối tượng</a:t>
            </a:r>
            <a:endParaRPr lang="vi-VN" sz="1600" b="1">
              <a:solidFill>
                <a:srgbClr val="FFFF00"/>
              </a:solidFill>
            </a:endParaRPr>
          </a:p>
        </p:txBody>
      </p:sp>
      <p:sp>
        <p:nvSpPr>
          <p:cNvPr id="16" name="Footer Placeholder 1"/>
          <p:cNvSpPr>
            <a:spLocks noGrp="1"/>
          </p:cNvSpPr>
          <p:nvPr>
            <p:ph type="ftr" sz="quarter" idx="11"/>
          </p:nvPr>
        </p:nvSpPr>
        <p:spPr>
          <a:xfrm>
            <a:off x="2702710" y="6359842"/>
            <a:ext cx="3723827" cy="365125"/>
          </a:xfrm>
        </p:spPr>
        <p:txBody>
          <a:bodyPr/>
          <a:lstStyle/>
          <a:p>
            <a:pPr>
              <a:defRPr/>
            </a:pPr>
            <a:r>
              <a:rPr lang="vi-VN" sz="1600" b="1">
                <a:solidFill>
                  <a:schemeClr val="tx1"/>
                </a:solidFill>
              </a:rPr>
              <a:t>Nguyễn tiến Huy - Tháng 3/2025</a:t>
            </a:r>
          </a:p>
        </p:txBody>
      </p:sp>
      <p:sp>
        <p:nvSpPr>
          <p:cNvPr id="9" name="TextBox 102"/>
          <p:cNvSpPr txBox="1">
            <a:spLocks noChangeArrowheads="1"/>
          </p:cNvSpPr>
          <p:nvPr/>
        </p:nvSpPr>
        <p:spPr bwMode="auto">
          <a:xfrm>
            <a:off x="207509" y="1913173"/>
            <a:ext cx="4076460"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Yêu cầu  của ứng dụng </a:t>
            </a:r>
            <a:br>
              <a:rPr lang="en-US" sz="1200">
                <a:latin typeface="Arial" pitchFamily="34" charset="0"/>
                <a:cs typeface="Arial" pitchFamily="34" charset="0"/>
              </a:rPr>
            </a:br>
            <a:r>
              <a:rPr lang="en-US" sz="1200">
                <a:latin typeface="Arial" pitchFamily="34" charset="0"/>
                <a:cs typeface="Arial" pitchFamily="34" charset="0"/>
              </a:rPr>
              <a:t>   . Xây dựng ứng dụng cho phép người dùng </a:t>
            </a:r>
            <a:br>
              <a:rPr lang="en-US" sz="1200">
                <a:latin typeface="Arial" pitchFamily="34" charset="0"/>
                <a:cs typeface="Arial" pitchFamily="34" charset="0"/>
              </a:rPr>
            </a:br>
            <a:r>
              <a:rPr lang="en-US" sz="1200">
                <a:latin typeface="Arial" pitchFamily="34" charset="0"/>
                <a:cs typeface="Arial" pitchFamily="34" charset="0"/>
              </a:rPr>
              <a:t>1. Quản lý được các khoản thu, Khoản chi</a:t>
            </a:r>
            <a:br>
              <a:rPr lang="en-US" sz="1200">
                <a:latin typeface="Arial" pitchFamily="34" charset="0"/>
                <a:cs typeface="Arial" pitchFamily="34" charset="0"/>
              </a:rPr>
            </a:br>
            <a:r>
              <a:rPr lang="en-US" sz="1200">
                <a:latin typeface="Arial" pitchFamily="34" charset="0"/>
                <a:cs typeface="Arial" pitchFamily="34" charset="0"/>
              </a:rPr>
              <a:t>2. Tra cứu việc thu chi theo : Thành viên, Ngày, Số tiền </a:t>
            </a:r>
            <a:br>
              <a:rPr lang="en-US" sz="1200">
                <a:latin typeface="Arial" pitchFamily="34" charset="0"/>
                <a:cs typeface="Arial" pitchFamily="34" charset="0"/>
              </a:rPr>
            </a:br>
            <a:r>
              <a:rPr lang="en-US" sz="1200">
                <a:latin typeface="Arial" pitchFamily="34" charset="0"/>
                <a:cs typeface="Arial" pitchFamily="34" charset="0"/>
              </a:rPr>
              <a:t>3. Lập các báo cáo thống kê thu/chi theo các biểu mẩu </a:t>
            </a:r>
            <a:endParaRPr lang="en-US" sz="1200" b="1">
              <a:latin typeface="Arial" pitchFamily="34" charset="0"/>
              <a:cs typeface="Arial" pitchFamily="34" charset="0"/>
            </a:endParaRPr>
          </a:p>
        </p:txBody>
      </p:sp>
      <p:graphicFrame>
        <p:nvGraphicFramePr>
          <p:cNvPr id="4" name="Table 3">
            <a:extLst>
              <a:ext uri="{FF2B5EF4-FFF2-40B4-BE49-F238E27FC236}">
                <a16:creationId xmlns:a16="http://schemas.microsoft.com/office/drawing/2014/main" id="{F0533C12-A019-8068-A01A-4033ED1ACA82}"/>
              </a:ext>
            </a:extLst>
          </p:cNvPr>
          <p:cNvGraphicFramePr>
            <a:graphicFrameLocks noGrp="1"/>
          </p:cNvGraphicFramePr>
          <p:nvPr>
            <p:extLst>
              <p:ext uri="{D42A27DB-BD31-4B8C-83A1-F6EECF244321}">
                <p14:modId xmlns:p14="http://schemas.microsoft.com/office/powerpoint/2010/main" val="517514167"/>
              </p:ext>
            </p:extLst>
          </p:nvPr>
        </p:nvGraphicFramePr>
        <p:xfrm>
          <a:off x="539552" y="3738951"/>
          <a:ext cx="2054736" cy="762000"/>
        </p:xfrm>
        <a:graphic>
          <a:graphicData uri="http://schemas.openxmlformats.org/drawingml/2006/table">
            <a:tbl>
              <a:tblPr firstRow="1" bandRow="1">
                <a:tableStyleId>{5C22544A-7EE6-4342-B048-85BDC9FD1C3A}</a:tableStyleId>
              </a:tblPr>
              <a:tblGrid>
                <a:gridCol w="2054736">
                  <a:extLst>
                    <a:ext uri="{9D8B030D-6E8A-4147-A177-3AD203B41FA5}">
                      <a16:colId xmlns:a16="http://schemas.microsoft.com/office/drawing/2014/main" val="20000"/>
                    </a:ext>
                  </a:extLst>
                </a:gridCol>
              </a:tblGrid>
              <a:tr h="280646">
                <a:tc>
                  <a:txBody>
                    <a:bodyPr/>
                    <a:lstStyle/>
                    <a:p>
                      <a:pPr algn="ctr"/>
                      <a:r>
                        <a:rPr lang="en-US" sz="1400">
                          <a:latin typeface="Arial" pitchFamily="34" charset="0"/>
                          <a:cs typeface="Arial" pitchFamily="34" charset="0"/>
                        </a:rPr>
                        <a:t>THANH_VIEN</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45188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a:latin typeface="Arial" pitchFamily="34" charset="0"/>
                          <a:cs typeface="Arial" pitchFamily="34" charset="0"/>
                        </a:rPr>
                        <a:t>Ho_ten,</a:t>
                      </a:r>
                      <a:r>
                        <a:rPr lang="en-US" sz="1200" baseline="0">
                          <a:latin typeface="Arial" pitchFamily="34" charset="0"/>
                          <a:cs typeface="Arial" pitchFamily="34" charset="0"/>
                        </a:rPr>
                        <a:t>Gioi_tinh,</a:t>
                      </a:r>
                      <a:br>
                        <a:rPr lang="en-US" sz="1200" baseline="0">
                          <a:latin typeface="Arial" pitchFamily="34" charset="0"/>
                          <a:cs typeface="Arial" pitchFamily="34" charset="0"/>
                        </a:rPr>
                      </a:br>
                      <a:r>
                        <a:rPr lang="en-US" sz="1200" baseline="0">
                          <a:latin typeface="Arial" pitchFamily="34" charset="0"/>
                          <a:cs typeface="Arial" pitchFamily="34" charset="0"/>
                        </a:rPr>
                        <a:t>Ngay_sinh</a:t>
                      </a:r>
                      <a:endParaRPr lang="vi-VN" sz="1200" b="1">
                        <a:solidFill>
                          <a:schemeClr val="accent6">
                            <a:lumMod val="50000"/>
                          </a:schemeClr>
                        </a:solidFill>
                        <a:latin typeface="+mn-lt"/>
                        <a:cs typeface="Arial" pitchFamily="34" charset="0"/>
                      </a:endParaRPr>
                    </a:p>
                  </a:txBody>
                  <a:tcPr/>
                </a:tc>
                <a:extLst>
                  <a:ext uri="{0D108BD9-81ED-4DB2-BD59-A6C34878D82A}">
                    <a16:rowId xmlns:a16="http://schemas.microsoft.com/office/drawing/2014/main" val="10001"/>
                  </a:ext>
                </a:extLst>
              </a:tr>
            </a:tbl>
          </a:graphicData>
        </a:graphic>
      </p:graphicFrame>
      <p:graphicFrame>
        <p:nvGraphicFramePr>
          <p:cNvPr id="5" name="Table 4">
            <a:extLst>
              <a:ext uri="{FF2B5EF4-FFF2-40B4-BE49-F238E27FC236}">
                <a16:creationId xmlns:a16="http://schemas.microsoft.com/office/drawing/2014/main" id="{D4D556A8-B5F1-316A-29F6-6403A5264998}"/>
              </a:ext>
            </a:extLst>
          </p:cNvPr>
          <p:cNvGraphicFramePr>
            <a:graphicFrameLocks noGrp="1"/>
          </p:cNvGraphicFramePr>
          <p:nvPr>
            <p:extLst>
              <p:ext uri="{D42A27DB-BD31-4B8C-83A1-F6EECF244321}">
                <p14:modId xmlns:p14="http://schemas.microsoft.com/office/powerpoint/2010/main" val="2078080092"/>
              </p:ext>
            </p:extLst>
          </p:nvPr>
        </p:nvGraphicFramePr>
        <p:xfrm>
          <a:off x="1161336" y="5289216"/>
          <a:ext cx="1467784" cy="762000"/>
        </p:xfrm>
        <a:graphic>
          <a:graphicData uri="http://schemas.openxmlformats.org/drawingml/2006/table">
            <a:tbl>
              <a:tblPr firstRow="1" bandRow="1">
                <a:tableStyleId>{5C22544A-7EE6-4342-B048-85BDC9FD1C3A}</a:tableStyleId>
              </a:tblPr>
              <a:tblGrid>
                <a:gridCol w="1467784">
                  <a:extLst>
                    <a:ext uri="{9D8B030D-6E8A-4147-A177-3AD203B41FA5}">
                      <a16:colId xmlns:a16="http://schemas.microsoft.com/office/drawing/2014/main" val="20000"/>
                    </a:ext>
                  </a:extLst>
                </a:gridCol>
              </a:tblGrid>
              <a:tr h="230811">
                <a:tc>
                  <a:txBody>
                    <a:bodyPr/>
                    <a:lstStyle/>
                    <a:p>
                      <a:pPr algn="ctr"/>
                      <a:r>
                        <a:rPr lang="en-US" sz="1400">
                          <a:latin typeface="Arial" pitchFamily="34" charset="0"/>
                          <a:cs typeface="Arial" pitchFamily="34" charset="0"/>
                        </a:rPr>
                        <a:t>KHOAN_THU</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371647">
                <a:tc>
                  <a:txBody>
                    <a:bodyPr/>
                    <a:lstStyle/>
                    <a:p>
                      <a:r>
                        <a:rPr lang="en-US" sz="1200" b="0" baseline="0">
                          <a:solidFill>
                            <a:schemeClr val="tx1"/>
                          </a:solidFill>
                          <a:latin typeface="Arial" pitchFamily="34" charset="0"/>
                          <a:cs typeface="Arial" pitchFamily="34" charset="0"/>
                        </a:rPr>
                        <a:t>Ngay_thu,</a:t>
                      </a:r>
                      <a:br>
                        <a:rPr lang="en-US" sz="1200" b="0" baseline="0">
                          <a:solidFill>
                            <a:schemeClr val="tx1"/>
                          </a:solidFill>
                          <a:latin typeface="Arial" pitchFamily="34" charset="0"/>
                          <a:cs typeface="Arial" pitchFamily="34" charset="0"/>
                        </a:rPr>
                      </a:br>
                      <a:r>
                        <a:rPr lang="en-US" sz="1200" b="0" baseline="0">
                          <a:solidFill>
                            <a:schemeClr val="tx1"/>
                          </a:solidFill>
                          <a:latin typeface="Arial" pitchFamily="34" charset="0"/>
                          <a:cs typeface="Arial" pitchFamily="34" charset="0"/>
                        </a:rPr>
                        <a:t>So_tien</a:t>
                      </a:r>
                      <a:endParaRPr lang="vi-VN" sz="1200" b="0">
                        <a:solidFill>
                          <a:schemeClr val="tx1"/>
                        </a:solidFill>
                        <a:latin typeface="Arial" pitchFamily="34" charset="0"/>
                        <a:cs typeface="Arial" pitchFamily="34" charset="0"/>
                      </a:endParaRPr>
                    </a:p>
                  </a:txBody>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5B3FCF64-F50D-1ACD-CD73-CFA1B53FBEA4}"/>
              </a:ext>
            </a:extLst>
          </p:cNvPr>
          <p:cNvGraphicFramePr>
            <a:graphicFrameLocks noGrp="1"/>
          </p:cNvGraphicFramePr>
          <p:nvPr>
            <p:extLst>
              <p:ext uri="{D42A27DB-BD31-4B8C-83A1-F6EECF244321}">
                <p14:modId xmlns:p14="http://schemas.microsoft.com/office/powerpoint/2010/main" val="652365091"/>
              </p:ext>
            </p:extLst>
          </p:nvPr>
        </p:nvGraphicFramePr>
        <p:xfrm>
          <a:off x="5242147" y="3418231"/>
          <a:ext cx="1650505" cy="944880"/>
        </p:xfrm>
        <a:graphic>
          <a:graphicData uri="http://schemas.openxmlformats.org/drawingml/2006/table">
            <a:tbl>
              <a:tblPr firstRow="1" bandRow="1">
                <a:tableStyleId>{5C22544A-7EE6-4342-B048-85BDC9FD1C3A}</a:tableStyleId>
              </a:tblPr>
              <a:tblGrid>
                <a:gridCol w="1650505">
                  <a:extLst>
                    <a:ext uri="{9D8B030D-6E8A-4147-A177-3AD203B41FA5}">
                      <a16:colId xmlns:a16="http://schemas.microsoft.com/office/drawing/2014/main" val="20000"/>
                    </a:ext>
                  </a:extLst>
                </a:gridCol>
              </a:tblGrid>
              <a:tr h="0">
                <a:tc>
                  <a:txBody>
                    <a:bodyPr/>
                    <a:lstStyle/>
                    <a:p>
                      <a:pPr algn="ctr"/>
                      <a:r>
                        <a:rPr lang="en-US" sz="1400">
                          <a:latin typeface="Arial" pitchFamily="34" charset="0"/>
                          <a:cs typeface="Arial" pitchFamily="34" charset="0"/>
                        </a:rPr>
                        <a:t>GIA_DINH</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2335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a:latin typeface="Arial" pitchFamily="34" charset="0"/>
                          <a:cs typeface="Arial" pitchFamily="34" charset="0"/>
                        </a:rPr>
                        <a:t>Ten, Dien_thoai,Dia_chi</a:t>
                      </a:r>
                      <a:br>
                        <a:rPr lang="en-US" sz="1200" baseline="0">
                          <a:latin typeface="Arial" pitchFamily="34" charset="0"/>
                          <a:cs typeface="Arial" pitchFamily="34" charset="0"/>
                        </a:rPr>
                      </a:br>
                      <a:endParaRPr lang="vi-VN" sz="1200" b="0">
                        <a:solidFill>
                          <a:schemeClr val="tx1"/>
                        </a:solidFill>
                        <a:latin typeface="Arial" pitchFamily="34" charset="0"/>
                        <a:cs typeface="Arial" pitchFamily="34" charset="0"/>
                      </a:endParaRPr>
                    </a:p>
                  </a:txBody>
                  <a:tcPr/>
                </a:tc>
                <a:extLst>
                  <a:ext uri="{0D108BD9-81ED-4DB2-BD59-A6C34878D82A}">
                    <a16:rowId xmlns:a16="http://schemas.microsoft.com/office/drawing/2014/main" val="10001"/>
                  </a:ext>
                </a:extLst>
              </a:tr>
            </a:tbl>
          </a:graphicData>
        </a:graphic>
      </p:graphicFrame>
      <p:graphicFrame>
        <p:nvGraphicFramePr>
          <p:cNvPr id="13" name="Table 12">
            <a:extLst>
              <a:ext uri="{FF2B5EF4-FFF2-40B4-BE49-F238E27FC236}">
                <a16:creationId xmlns:a16="http://schemas.microsoft.com/office/drawing/2014/main" id="{F785E6A9-8BA3-7CA1-C262-EBF8C81DAD4B}"/>
              </a:ext>
            </a:extLst>
          </p:cNvPr>
          <p:cNvGraphicFramePr>
            <a:graphicFrameLocks noGrp="1"/>
          </p:cNvGraphicFramePr>
          <p:nvPr>
            <p:extLst>
              <p:ext uri="{D42A27DB-BD31-4B8C-83A1-F6EECF244321}">
                <p14:modId xmlns:p14="http://schemas.microsoft.com/office/powerpoint/2010/main" val="799193821"/>
              </p:ext>
            </p:extLst>
          </p:nvPr>
        </p:nvGraphicFramePr>
        <p:xfrm>
          <a:off x="3323593" y="4500951"/>
          <a:ext cx="1467784" cy="762000"/>
        </p:xfrm>
        <a:graphic>
          <a:graphicData uri="http://schemas.openxmlformats.org/drawingml/2006/table">
            <a:tbl>
              <a:tblPr firstRow="1" bandRow="1">
                <a:tableStyleId>{5C22544A-7EE6-4342-B048-85BDC9FD1C3A}</a:tableStyleId>
              </a:tblPr>
              <a:tblGrid>
                <a:gridCol w="1467784">
                  <a:extLst>
                    <a:ext uri="{9D8B030D-6E8A-4147-A177-3AD203B41FA5}">
                      <a16:colId xmlns:a16="http://schemas.microsoft.com/office/drawing/2014/main" val="20000"/>
                    </a:ext>
                  </a:extLst>
                </a:gridCol>
              </a:tblGrid>
              <a:tr h="230811">
                <a:tc>
                  <a:txBody>
                    <a:bodyPr/>
                    <a:lstStyle/>
                    <a:p>
                      <a:pPr algn="ctr"/>
                      <a:r>
                        <a:rPr lang="en-US" sz="1400">
                          <a:latin typeface="Arial" pitchFamily="34" charset="0"/>
                          <a:cs typeface="Arial" pitchFamily="34" charset="0"/>
                        </a:rPr>
                        <a:t>KHOAN_CHI</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371647">
                <a:tc>
                  <a:txBody>
                    <a:bodyPr/>
                    <a:lstStyle/>
                    <a:p>
                      <a:r>
                        <a:rPr lang="en-US" sz="1200" b="0" baseline="0">
                          <a:solidFill>
                            <a:schemeClr val="tx1"/>
                          </a:solidFill>
                          <a:latin typeface="Arial" pitchFamily="34" charset="0"/>
                          <a:cs typeface="Arial" pitchFamily="34" charset="0"/>
                        </a:rPr>
                        <a:t>Ngay_chi,</a:t>
                      </a:r>
                      <a:br>
                        <a:rPr lang="en-US" sz="1200" b="0" baseline="0">
                          <a:solidFill>
                            <a:schemeClr val="tx1"/>
                          </a:solidFill>
                          <a:latin typeface="Arial" pitchFamily="34" charset="0"/>
                          <a:cs typeface="Arial" pitchFamily="34" charset="0"/>
                        </a:rPr>
                      </a:br>
                      <a:r>
                        <a:rPr lang="en-US" sz="1200" b="0" baseline="0">
                          <a:solidFill>
                            <a:schemeClr val="tx1"/>
                          </a:solidFill>
                          <a:latin typeface="Arial" pitchFamily="34" charset="0"/>
                          <a:cs typeface="Arial" pitchFamily="34" charset="0"/>
                        </a:rPr>
                        <a:t>So_tien</a:t>
                      </a:r>
                      <a:endParaRPr lang="vi-VN" sz="1200" b="0">
                        <a:solidFill>
                          <a:schemeClr val="tx1"/>
                        </a:solidFill>
                        <a:latin typeface="Arial" pitchFamily="34" charset="0"/>
                        <a:cs typeface="Arial" pitchFamily="34" charset="0"/>
                      </a:endParaRPr>
                    </a:p>
                  </a:txBody>
                  <a:tcPr/>
                </a:tc>
                <a:extLst>
                  <a:ext uri="{0D108BD9-81ED-4DB2-BD59-A6C34878D82A}">
                    <a16:rowId xmlns:a16="http://schemas.microsoft.com/office/drawing/2014/main" val="10001"/>
                  </a:ext>
                </a:extLst>
              </a:tr>
            </a:tbl>
          </a:graphicData>
        </a:graphic>
      </p:graphicFrame>
      <p:sp>
        <p:nvSpPr>
          <p:cNvPr id="28" name="Line 13">
            <a:extLst>
              <a:ext uri="{FF2B5EF4-FFF2-40B4-BE49-F238E27FC236}">
                <a16:creationId xmlns:a16="http://schemas.microsoft.com/office/drawing/2014/main" id="{EBAF8D76-CC3B-E064-1422-31847218AAF5}"/>
              </a:ext>
            </a:extLst>
          </p:cNvPr>
          <p:cNvSpPr>
            <a:spLocks noChangeShapeType="1"/>
          </p:cNvSpPr>
          <p:nvPr/>
        </p:nvSpPr>
        <p:spPr bwMode="auto">
          <a:xfrm rot="5693348" flipV="1">
            <a:off x="2998993" y="3650380"/>
            <a:ext cx="380230" cy="1218447"/>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TextBox 30">
            <a:extLst>
              <a:ext uri="{FF2B5EF4-FFF2-40B4-BE49-F238E27FC236}">
                <a16:creationId xmlns:a16="http://schemas.microsoft.com/office/drawing/2014/main" id="{012523B2-CBD4-EDAF-AB3D-17E3E68C5578}"/>
              </a:ext>
            </a:extLst>
          </p:cNvPr>
          <p:cNvSpPr txBox="1">
            <a:spLocks noChangeArrowheads="1"/>
          </p:cNvSpPr>
          <p:nvPr/>
        </p:nvSpPr>
        <p:spPr bwMode="auto">
          <a:xfrm rot="11093348">
            <a:off x="3665037" y="4112765"/>
            <a:ext cx="221442" cy="370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b="1">
                <a:latin typeface="Calibri" pitchFamily="34" charset="0"/>
              </a:rPr>
              <a:t>*</a:t>
            </a:r>
            <a:endParaRPr lang="vi-VN" b="1"/>
          </a:p>
        </p:txBody>
      </p:sp>
      <p:sp>
        <p:nvSpPr>
          <p:cNvPr id="30" name="Line 13">
            <a:extLst>
              <a:ext uri="{FF2B5EF4-FFF2-40B4-BE49-F238E27FC236}">
                <a16:creationId xmlns:a16="http://schemas.microsoft.com/office/drawing/2014/main" id="{BF92BA79-32C3-A1ED-9DE4-5D309C8F8A06}"/>
              </a:ext>
            </a:extLst>
          </p:cNvPr>
          <p:cNvSpPr>
            <a:spLocks noChangeShapeType="1"/>
          </p:cNvSpPr>
          <p:nvPr/>
        </p:nvSpPr>
        <p:spPr bwMode="auto">
          <a:xfrm rot="5693348" flipV="1">
            <a:off x="1224638" y="4674296"/>
            <a:ext cx="729518" cy="412258"/>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TextBox 30">
            <a:extLst>
              <a:ext uri="{FF2B5EF4-FFF2-40B4-BE49-F238E27FC236}">
                <a16:creationId xmlns:a16="http://schemas.microsoft.com/office/drawing/2014/main" id="{F727412F-78ED-DE1E-406C-B139E09C4914}"/>
              </a:ext>
            </a:extLst>
          </p:cNvPr>
          <p:cNvSpPr txBox="1">
            <a:spLocks noChangeArrowheads="1"/>
          </p:cNvSpPr>
          <p:nvPr/>
        </p:nvSpPr>
        <p:spPr bwMode="auto">
          <a:xfrm rot="11093348">
            <a:off x="1832968" y="4932060"/>
            <a:ext cx="221442" cy="370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b="1">
                <a:latin typeface="Calibri" pitchFamily="34" charset="0"/>
              </a:rPr>
              <a:t>*</a:t>
            </a:r>
            <a:endParaRPr lang="vi-VN" b="1"/>
          </a:p>
        </p:txBody>
      </p:sp>
    </p:spTree>
    <p:extLst>
      <p:ext uri="{BB962C8B-B14F-4D97-AF65-F5344CB8AC3E}">
        <p14:creationId xmlns:p14="http://schemas.microsoft.com/office/powerpoint/2010/main" val="1886979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2"/>
          <p:cNvSpPr txBox="1">
            <a:spLocks noChangeArrowheads="1"/>
          </p:cNvSpPr>
          <p:nvPr/>
        </p:nvSpPr>
        <p:spPr bwMode="auto">
          <a:xfrm>
            <a:off x="185654" y="908720"/>
            <a:ext cx="8778834" cy="830997"/>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Ngữ cảnh </a:t>
            </a:r>
            <a:br>
              <a:rPr lang="en-US" sz="1200">
                <a:latin typeface="Arial" pitchFamily="34" charset="0"/>
                <a:cs typeface="Arial" pitchFamily="34" charset="0"/>
              </a:rPr>
            </a:br>
            <a:r>
              <a:rPr lang="en-US" sz="1200">
                <a:latin typeface="Arial" pitchFamily="34" charset="0"/>
                <a:cs typeface="Arial" pitchFamily="34" charset="0"/>
              </a:rPr>
              <a:t>  Gia đình X có trung bình 4 thành viên với thông tin cần quản lý chỉ bao gồm Họ tên, Giới tính, Ngày sinh, Hình. Mỗi thành viên đều có  các khoản thu, khoản chi riêng .( giả sử chưa xem xét thu chi chung của cả gia đình  ) với thông tin cần ghi nhận  bao gồm ngày thu/chi , số tiền. </a:t>
            </a:r>
            <a:endParaRPr lang="en-US" sz="1200" b="1">
              <a:latin typeface="Arial" pitchFamily="34" charset="0"/>
              <a:cs typeface="Arial" pitchFamily="34" charset="0"/>
            </a:endParaRPr>
          </a:p>
        </p:txBody>
      </p:sp>
      <p:sp>
        <p:nvSpPr>
          <p:cNvPr id="14" name="Rounded Rectangle 13">
            <a:hlinkClick r:id="rId3" action="ppaction://hlinksldjump"/>
          </p:cNvPr>
          <p:cNvSpPr/>
          <p:nvPr/>
        </p:nvSpPr>
        <p:spPr>
          <a:xfrm>
            <a:off x="2843808" y="159200"/>
            <a:ext cx="3240359" cy="576064"/>
          </a:xfrm>
          <a:prstGeom prst="roundRect">
            <a:avLst/>
          </a:prstGeom>
          <a:solidFill>
            <a:schemeClr val="tx2">
              <a:lumMod val="75000"/>
            </a:schemeClr>
          </a:solidFill>
          <a:ln>
            <a:solidFill>
              <a:srgbClr val="002060"/>
            </a:solidFill>
          </a:ln>
          <a:effectLst>
            <a:outerShdw blurRad="482600" dir="5400000" sx="89000" sy="89000" algn="ctr" rotWithShape="0">
              <a:srgbClr val="000000">
                <a:alpha val="49000"/>
              </a:srgbClr>
            </a:outerShdw>
          </a:effectLst>
          <a:scene3d>
            <a:camera prst="orthographicFront"/>
            <a:lightRig rig="twoPt" dir="t"/>
          </a:scene3d>
          <a:sp3d extrusionH="12700" prstMaterial="translucentPowder">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b="1">
                <a:solidFill>
                  <a:srgbClr val="FFFF00"/>
                </a:solidFill>
              </a:rPr>
              <a:t>Quản</a:t>
            </a:r>
            <a:r>
              <a:rPr lang="en-US" sz="1600" b="1">
                <a:solidFill>
                  <a:srgbClr val="FFFF00"/>
                </a:solidFill>
              </a:rPr>
              <a:t> lý thu chi gia đình </a:t>
            </a:r>
            <a:br>
              <a:rPr lang="en-US" sz="1600" b="1">
                <a:solidFill>
                  <a:srgbClr val="FFFF00"/>
                </a:solidFill>
              </a:rPr>
            </a:br>
            <a:r>
              <a:rPr lang="en-US" sz="1600" b="1">
                <a:solidFill>
                  <a:schemeClr val="bg1"/>
                </a:solidFill>
              </a:rPr>
              <a:t>Sơ đồ logic dữ liệu</a:t>
            </a:r>
            <a:endParaRPr lang="vi-VN" sz="1600" b="1">
              <a:solidFill>
                <a:srgbClr val="FFFF00"/>
              </a:solidFill>
            </a:endParaRPr>
          </a:p>
        </p:txBody>
      </p:sp>
      <p:sp>
        <p:nvSpPr>
          <p:cNvPr id="16" name="Footer Placeholder 1"/>
          <p:cNvSpPr>
            <a:spLocks noGrp="1"/>
          </p:cNvSpPr>
          <p:nvPr>
            <p:ph type="ftr" sz="quarter" idx="11"/>
          </p:nvPr>
        </p:nvSpPr>
        <p:spPr>
          <a:xfrm>
            <a:off x="2702710" y="6359842"/>
            <a:ext cx="3723827" cy="365125"/>
          </a:xfrm>
        </p:spPr>
        <p:txBody>
          <a:bodyPr/>
          <a:lstStyle/>
          <a:p>
            <a:pPr>
              <a:defRPr/>
            </a:pPr>
            <a:r>
              <a:rPr lang="vi-VN" sz="1600" b="1">
                <a:solidFill>
                  <a:schemeClr val="tx1"/>
                </a:solidFill>
              </a:rPr>
              <a:t>Nguyễn tiến Huy - Tháng 3/2025</a:t>
            </a:r>
          </a:p>
        </p:txBody>
      </p:sp>
      <p:sp>
        <p:nvSpPr>
          <p:cNvPr id="9" name="TextBox 102"/>
          <p:cNvSpPr txBox="1">
            <a:spLocks noChangeArrowheads="1"/>
          </p:cNvSpPr>
          <p:nvPr/>
        </p:nvSpPr>
        <p:spPr bwMode="auto">
          <a:xfrm>
            <a:off x="207509" y="1913173"/>
            <a:ext cx="4076460"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Yêu cầu  của ứng dụng </a:t>
            </a:r>
            <a:br>
              <a:rPr lang="en-US" sz="1200">
                <a:latin typeface="Arial" pitchFamily="34" charset="0"/>
                <a:cs typeface="Arial" pitchFamily="34" charset="0"/>
              </a:rPr>
            </a:br>
            <a:r>
              <a:rPr lang="en-US" sz="1200">
                <a:latin typeface="Arial" pitchFamily="34" charset="0"/>
                <a:cs typeface="Arial" pitchFamily="34" charset="0"/>
              </a:rPr>
              <a:t>   . Xây dựng ứng dụng cho phép người dùng </a:t>
            </a:r>
            <a:br>
              <a:rPr lang="en-US" sz="1200">
                <a:latin typeface="Arial" pitchFamily="34" charset="0"/>
                <a:cs typeface="Arial" pitchFamily="34" charset="0"/>
              </a:rPr>
            </a:br>
            <a:r>
              <a:rPr lang="en-US" sz="1200">
                <a:latin typeface="Arial" pitchFamily="34" charset="0"/>
                <a:cs typeface="Arial" pitchFamily="34" charset="0"/>
              </a:rPr>
              <a:t>1. Quản lý được các khoản thu, Khoản chi</a:t>
            </a:r>
            <a:br>
              <a:rPr lang="en-US" sz="1200">
                <a:latin typeface="Arial" pitchFamily="34" charset="0"/>
                <a:cs typeface="Arial" pitchFamily="34" charset="0"/>
              </a:rPr>
            </a:br>
            <a:r>
              <a:rPr lang="en-US" sz="1200">
                <a:latin typeface="Arial" pitchFamily="34" charset="0"/>
                <a:cs typeface="Arial" pitchFamily="34" charset="0"/>
              </a:rPr>
              <a:t>2. Tra cứu việc thu chi theo : Thành viên, Ngày, Số tiền </a:t>
            </a:r>
            <a:br>
              <a:rPr lang="en-US" sz="1200">
                <a:latin typeface="Arial" pitchFamily="34" charset="0"/>
                <a:cs typeface="Arial" pitchFamily="34" charset="0"/>
              </a:rPr>
            </a:br>
            <a:r>
              <a:rPr lang="en-US" sz="1200">
                <a:latin typeface="Arial" pitchFamily="34" charset="0"/>
                <a:cs typeface="Arial" pitchFamily="34" charset="0"/>
              </a:rPr>
              <a:t>3. Lập các báo cáo thống kê thu/chi theo các biểu mẩu </a:t>
            </a:r>
            <a:endParaRPr lang="en-US" sz="1200" b="1">
              <a:latin typeface="Arial" pitchFamily="34" charset="0"/>
              <a:cs typeface="Arial" pitchFamily="34" charset="0"/>
            </a:endParaRPr>
          </a:p>
        </p:txBody>
      </p:sp>
      <p:graphicFrame>
        <p:nvGraphicFramePr>
          <p:cNvPr id="4" name="Table 3">
            <a:extLst>
              <a:ext uri="{FF2B5EF4-FFF2-40B4-BE49-F238E27FC236}">
                <a16:creationId xmlns:a16="http://schemas.microsoft.com/office/drawing/2014/main" id="{F0533C12-A019-8068-A01A-4033ED1ACA82}"/>
              </a:ext>
            </a:extLst>
          </p:cNvPr>
          <p:cNvGraphicFramePr>
            <a:graphicFrameLocks noGrp="1"/>
          </p:cNvGraphicFramePr>
          <p:nvPr/>
        </p:nvGraphicFramePr>
        <p:xfrm>
          <a:off x="801296" y="3738950"/>
          <a:ext cx="1792992" cy="958519"/>
        </p:xfrm>
        <a:graphic>
          <a:graphicData uri="http://schemas.openxmlformats.org/drawingml/2006/table">
            <a:tbl>
              <a:tblPr firstRow="1" bandRow="1">
                <a:tableStyleId>{5C22544A-7EE6-4342-B048-85BDC9FD1C3A}</a:tableStyleId>
              </a:tblPr>
              <a:tblGrid>
                <a:gridCol w="1792992">
                  <a:extLst>
                    <a:ext uri="{9D8B030D-6E8A-4147-A177-3AD203B41FA5}">
                      <a16:colId xmlns:a16="http://schemas.microsoft.com/office/drawing/2014/main" val="20000"/>
                    </a:ext>
                  </a:extLst>
                </a:gridCol>
              </a:tblGrid>
              <a:tr h="367224">
                <a:tc>
                  <a:txBody>
                    <a:bodyPr/>
                    <a:lstStyle/>
                    <a:p>
                      <a:pPr algn="ctr"/>
                      <a:r>
                        <a:rPr lang="en-US" sz="1400">
                          <a:latin typeface="Arial" pitchFamily="34" charset="0"/>
                          <a:cs typeface="Arial" pitchFamily="34" charset="0"/>
                        </a:rPr>
                        <a:t>THANH_VIEN</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5912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u="sng">
                          <a:latin typeface="Arial" pitchFamily="34" charset="0"/>
                          <a:cs typeface="Arial" pitchFamily="34" charset="0"/>
                        </a:rPr>
                        <a:t>ID</a:t>
                      </a:r>
                      <a:r>
                        <a:rPr lang="en-US" sz="1200">
                          <a:latin typeface="Arial" pitchFamily="34" charset="0"/>
                          <a:cs typeface="Arial" pitchFamily="34" charset="0"/>
                        </a:rPr>
                        <a:t>, Ho_ten,</a:t>
                      </a:r>
                      <a:r>
                        <a:rPr lang="en-US" sz="1200" baseline="0">
                          <a:latin typeface="Arial" pitchFamily="34" charset="0"/>
                          <a:cs typeface="Arial" pitchFamily="34" charset="0"/>
                        </a:rPr>
                        <a:t> Ngay_sinh, </a:t>
                      </a:r>
                      <a:r>
                        <a:rPr lang="en-US" sz="1200" b="1" baseline="0">
                          <a:solidFill>
                            <a:schemeClr val="accent6">
                              <a:lumMod val="50000"/>
                            </a:schemeClr>
                          </a:solidFill>
                          <a:latin typeface="Arial" pitchFamily="34" charset="0"/>
                          <a:cs typeface="Arial" pitchFamily="34" charset="0"/>
                        </a:rPr>
                        <a:t>ID_GIOI_TINH</a:t>
                      </a:r>
                      <a:endParaRPr lang="vi-VN" sz="1200" b="1">
                        <a:solidFill>
                          <a:schemeClr val="accent6">
                            <a:lumMod val="50000"/>
                          </a:schemeClr>
                        </a:solidFill>
                        <a:latin typeface="+mn-lt"/>
                        <a:cs typeface="Arial" pitchFamily="34" charset="0"/>
                      </a:endParaRPr>
                    </a:p>
                  </a:txBody>
                  <a:tcPr/>
                </a:tc>
                <a:extLst>
                  <a:ext uri="{0D108BD9-81ED-4DB2-BD59-A6C34878D82A}">
                    <a16:rowId xmlns:a16="http://schemas.microsoft.com/office/drawing/2014/main" val="10001"/>
                  </a:ext>
                </a:extLst>
              </a:tr>
            </a:tbl>
          </a:graphicData>
        </a:graphic>
      </p:graphicFrame>
      <p:graphicFrame>
        <p:nvGraphicFramePr>
          <p:cNvPr id="5" name="Table 4">
            <a:extLst>
              <a:ext uri="{FF2B5EF4-FFF2-40B4-BE49-F238E27FC236}">
                <a16:creationId xmlns:a16="http://schemas.microsoft.com/office/drawing/2014/main" id="{D4D556A8-B5F1-316A-29F6-6403A5264998}"/>
              </a:ext>
            </a:extLst>
          </p:cNvPr>
          <p:cNvGraphicFramePr>
            <a:graphicFrameLocks noGrp="1"/>
          </p:cNvGraphicFramePr>
          <p:nvPr>
            <p:extLst>
              <p:ext uri="{D42A27DB-BD31-4B8C-83A1-F6EECF244321}">
                <p14:modId xmlns:p14="http://schemas.microsoft.com/office/powerpoint/2010/main" val="3045109005"/>
              </p:ext>
            </p:extLst>
          </p:nvPr>
        </p:nvGraphicFramePr>
        <p:xfrm>
          <a:off x="1161336" y="5289216"/>
          <a:ext cx="1467784" cy="1127760"/>
        </p:xfrm>
        <a:graphic>
          <a:graphicData uri="http://schemas.openxmlformats.org/drawingml/2006/table">
            <a:tbl>
              <a:tblPr firstRow="1" bandRow="1">
                <a:tableStyleId>{5C22544A-7EE6-4342-B048-85BDC9FD1C3A}</a:tableStyleId>
              </a:tblPr>
              <a:tblGrid>
                <a:gridCol w="1467784">
                  <a:extLst>
                    <a:ext uri="{9D8B030D-6E8A-4147-A177-3AD203B41FA5}">
                      <a16:colId xmlns:a16="http://schemas.microsoft.com/office/drawing/2014/main" val="20000"/>
                    </a:ext>
                  </a:extLst>
                </a:gridCol>
              </a:tblGrid>
              <a:tr h="230811">
                <a:tc>
                  <a:txBody>
                    <a:bodyPr/>
                    <a:lstStyle/>
                    <a:p>
                      <a:pPr algn="ctr"/>
                      <a:r>
                        <a:rPr lang="en-US" sz="1400">
                          <a:latin typeface="Arial" pitchFamily="34" charset="0"/>
                          <a:cs typeface="Arial" pitchFamily="34" charset="0"/>
                        </a:rPr>
                        <a:t>KHOAN_THU</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371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a:latin typeface="Arial" pitchFamily="34" charset="0"/>
                          <a:cs typeface="Arial" pitchFamily="34" charset="0"/>
                        </a:rPr>
                        <a:t>ID</a:t>
                      </a:r>
                      <a:r>
                        <a:rPr lang="en-US" sz="1200">
                          <a:latin typeface="Arial" pitchFamily="34" charset="0"/>
                          <a:cs typeface="Arial" pitchFamily="34" charset="0"/>
                        </a:rPr>
                        <a:t>, </a:t>
                      </a:r>
                      <a:br>
                        <a:rPr lang="en-US" sz="1200">
                          <a:latin typeface="Arial" pitchFamily="34" charset="0"/>
                          <a:cs typeface="Arial" pitchFamily="34" charset="0"/>
                        </a:rPr>
                      </a:br>
                      <a:r>
                        <a:rPr lang="en-US" sz="1200" b="0" baseline="0">
                          <a:solidFill>
                            <a:schemeClr val="tx1"/>
                          </a:solidFill>
                          <a:latin typeface="Arial" pitchFamily="34" charset="0"/>
                          <a:cs typeface="Arial" pitchFamily="34" charset="0"/>
                        </a:rPr>
                        <a:t>Ngay_thu,</a:t>
                      </a:r>
                      <a:br>
                        <a:rPr lang="en-US" sz="1200" b="0" baseline="0">
                          <a:solidFill>
                            <a:schemeClr val="tx1"/>
                          </a:solidFill>
                          <a:latin typeface="Arial" pitchFamily="34" charset="0"/>
                          <a:cs typeface="Arial" pitchFamily="34" charset="0"/>
                        </a:rPr>
                      </a:br>
                      <a:r>
                        <a:rPr lang="en-US" sz="1200" b="0" baseline="0">
                          <a:solidFill>
                            <a:schemeClr val="tx1"/>
                          </a:solidFill>
                          <a:latin typeface="Arial" pitchFamily="34" charset="0"/>
                          <a:cs typeface="Arial" pitchFamily="34" charset="0"/>
                        </a:rPr>
                        <a:t>So_tien,</a:t>
                      </a:r>
                      <a:r>
                        <a:rPr lang="en-US" sz="1200" b="1" baseline="0">
                          <a:solidFill>
                            <a:schemeClr val="accent6">
                              <a:lumMod val="50000"/>
                            </a:schemeClr>
                          </a:solidFill>
                          <a:latin typeface="Arial" pitchFamily="34" charset="0"/>
                          <a:cs typeface="Arial" pitchFamily="34" charset="0"/>
                        </a:rPr>
                        <a:t> ID_THANH_VIEN</a:t>
                      </a:r>
                    </a:p>
                  </a:txBody>
                  <a:tcPr/>
                </a:tc>
                <a:extLst>
                  <a:ext uri="{0D108BD9-81ED-4DB2-BD59-A6C34878D82A}">
                    <a16:rowId xmlns:a16="http://schemas.microsoft.com/office/drawing/2014/main" val="10001"/>
                  </a:ext>
                </a:extLst>
              </a:tr>
            </a:tbl>
          </a:graphicData>
        </a:graphic>
      </p:graphicFrame>
      <p:cxnSp>
        <p:nvCxnSpPr>
          <p:cNvPr id="6" name="Straight Arrow Connector 5">
            <a:extLst>
              <a:ext uri="{FF2B5EF4-FFF2-40B4-BE49-F238E27FC236}">
                <a16:creationId xmlns:a16="http://schemas.microsoft.com/office/drawing/2014/main" id="{9B2BD1DF-1DF1-93C4-1D4C-8F0F712F6FFB}"/>
              </a:ext>
            </a:extLst>
          </p:cNvPr>
          <p:cNvCxnSpPr/>
          <p:nvPr/>
        </p:nvCxnSpPr>
        <p:spPr bwMode="auto">
          <a:xfrm flipH="1">
            <a:off x="1891095" y="4649387"/>
            <a:ext cx="134337" cy="611962"/>
          </a:xfrm>
          <a:prstGeom prst="straightConnector1">
            <a:avLst/>
          </a:prstGeom>
          <a:noFill/>
          <a:ln w="38100" cmpd="sng">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5B3FCF64-F50D-1ACD-CD73-CFA1B53FBEA4}"/>
              </a:ext>
            </a:extLst>
          </p:cNvPr>
          <p:cNvGraphicFramePr>
            <a:graphicFrameLocks noGrp="1"/>
          </p:cNvGraphicFramePr>
          <p:nvPr/>
        </p:nvGraphicFramePr>
        <p:xfrm>
          <a:off x="5242147" y="3418231"/>
          <a:ext cx="1650505" cy="944880"/>
        </p:xfrm>
        <a:graphic>
          <a:graphicData uri="http://schemas.openxmlformats.org/drawingml/2006/table">
            <a:tbl>
              <a:tblPr firstRow="1" bandRow="1">
                <a:tableStyleId>{5C22544A-7EE6-4342-B048-85BDC9FD1C3A}</a:tableStyleId>
              </a:tblPr>
              <a:tblGrid>
                <a:gridCol w="1650505">
                  <a:extLst>
                    <a:ext uri="{9D8B030D-6E8A-4147-A177-3AD203B41FA5}">
                      <a16:colId xmlns:a16="http://schemas.microsoft.com/office/drawing/2014/main" val="20000"/>
                    </a:ext>
                  </a:extLst>
                </a:gridCol>
              </a:tblGrid>
              <a:tr h="0">
                <a:tc>
                  <a:txBody>
                    <a:bodyPr/>
                    <a:lstStyle/>
                    <a:p>
                      <a:pPr algn="ctr"/>
                      <a:r>
                        <a:rPr lang="en-US" sz="1400">
                          <a:latin typeface="Arial" pitchFamily="34" charset="0"/>
                          <a:cs typeface="Arial" pitchFamily="34" charset="0"/>
                        </a:rPr>
                        <a:t>GIA_DINH</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2335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u="sng">
                          <a:latin typeface="Arial" pitchFamily="34" charset="0"/>
                          <a:cs typeface="Arial" pitchFamily="34" charset="0"/>
                        </a:rPr>
                        <a:t>ID</a:t>
                      </a:r>
                      <a:r>
                        <a:rPr lang="en-US" sz="1200">
                          <a:latin typeface="Arial" pitchFamily="34" charset="0"/>
                          <a:cs typeface="Arial" pitchFamily="34" charset="0"/>
                        </a:rPr>
                        <a:t>, Ten, Dien_thoai,Dia_chi</a:t>
                      </a:r>
                      <a:br>
                        <a:rPr lang="en-US" sz="1200" baseline="0">
                          <a:latin typeface="Arial" pitchFamily="34" charset="0"/>
                          <a:cs typeface="Arial" pitchFamily="34" charset="0"/>
                        </a:rPr>
                      </a:br>
                      <a:endParaRPr lang="vi-VN" sz="1200" b="0">
                        <a:solidFill>
                          <a:schemeClr val="tx1"/>
                        </a:solidFill>
                        <a:latin typeface="Arial" pitchFamily="34" charset="0"/>
                        <a:cs typeface="Arial" pitchFamily="34" charset="0"/>
                      </a:endParaRPr>
                    </a:p>
                  </a:txBody>
                  <a:tcPr/>
                </a:tc>
                <a:extLst>
                  <a:ext uri="{0D108BD9-81ED-4DB2-BD59-A6C34878D82A}">
                    <a16:rowId xmlns:a16="http://schemas.microsoft.com/office/drawing/2014/main" val="10001"/>
                  </a:ext>
                </a:extLst>
              </a:tr>
            </a:tbl>
          </a:graphicData>
        </a:graphic>
      </p:graphicFrame>
      <p:cxnSp>
        <p:nvCxnSpPr>
          <p:cNvPr id="8" name="Straight Arrow Connector 7">
            <a:extLst>
              <a:ext uri="{FF2B5EF4-FFF2-40B4-BE49-F238E27FC236}">
                <a16:creationId xmlns:a16="http://schemas.microsoft.com/office/drawing/2014/main" id="{78F3FEE5-79C5-0002-0D76-AD9097EB2C84}"/>
              </a:ext>
            </a:extLst>
          </p:cNvPr>
          <p:cNvCxnSpPr/>
          <p:nvPr/>
        </p:nvCxnSpPr>
        <p:spPr bwMode="auto">
          <a:xfrm>
            <a:off x="2594288" y="4471484"/>
            <a:ext cx="1026700" cy="225985"/>
          </a:xfrm>
          <a:prstGeom prst="straightConnector1">
            <a:avLst/>
          </a:prstGeom>
          <a:noFill/>
          <a:ln w="38100" cmpd="sng">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11" name="Table 10">
            <a:extLst>
              <a:ext uri="{FF2B5EF4-FFF2-40B4-BE49-F238E27FC236}">
                <a16:creationId xmlns:a16="http://schemas.microsoft.com/office/drawing/2014/main" id="{FA180968-0E5F-45BA-1073-7262CEE302CA}"/>
              </a:ext>
            </a:extLst>
          </p:cNvPr>
          <p:cNvGraphicFramePr>
            <a:graphicFrameLocks noGrp="1"/>
          </p:cNvGraphicFramePr>
          <p:nvPr/>
        </p:nvGraphicFramePr>
        <p:xfrm>
          <a:off x="3313936" y="3098168"/>
          <a:ext cx="1258064" cy="676447"/>
        </p:xfrm>
        <a:graphic>
          <a:graphicData uri="http://schemas.openxmlformats.org/drawingml/2006/table">
            <a:tbl>
              <a:tblPr firstRow="1" bandRow="1">
                <a:tableStyleId>{5C22544A-7EE6-4342-B048-85BDC9FD1C3A}</a:tableStyleId>
              </a:tblPr>
              <a:tblGrid>
                <a:gridCol w="1258064">
                  <a:extLst>
                    <a:ext uri="{9D8B030D-6E8A-4147-A177-3AD203B41FA5}">
                      <a16:colId xmlns:a16="http://schemas.microsoft.com/office/drawing/2014/main" val="20000"/>
                    </a:ext>
                  </a:extLst>
                </a:gridCol>
              </a:tblGrid>
              <a:tr h="230811">
                <a:tc>
                  <a:txBody>
                    <a:bodyPr/>
                    <a:lstStyle/>
                    <a:p>
                      <a:pPr algn="ctr"/>
                      <a:r>
                        <a:rPr lang="en-US" sz="1400">
                          <a:latin typeface="Arial" pitchFamily="34" charset="0"/>
                          <a:cs typeface="Arial" pitchFamily="34" charset="0"/>
                        </a:rPr>
                        <a:t>GIOI_TINH</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371647">
                <a:tc>
                  <a:txBody>
                    <a:bodyPr/>
                    <a:lstStyle/>
                    <a:p>
                      <a:r>
                        <a:rPr lang="en-US" sz="1200" b="1" u="sng">
                          <a:latin typeface="Arial" pitchFamily="34" charset="0"/>
                          <a:cs typeface="Arial" pitchFamily="34" charset="0"/>
                        </a:rPr>
                        <a:t>ID</a:t>
                      </a:r>
                      <a:r>
                        <a:rPr lang="en-US" sz="1200">
                          <a:latin typeface="Arial" pitchFamily="34" charset="0"/>
                          <a:cs typeface="Arial" pitchFamily="34" charset="0"/>
                        </a:rPr>
                        <a:t>, Ten,Ma_so</a:t>
                      </a:r>
                      <a:endParaRPr lang="vi-VN" sz="1200">
                        <a:latin typeface="Arial" pitchFamily="34" charset="0"/>
                        <a:cs typeface="Arial" pitchFamily="34" charset="0"/>
                      </a:endParaRPr>
                    </a:p>
                  </a:txBody>
                  <a:tcPr/>
                </a:tc>
                <a:extLst>
                  <a:ext uri="{0D108BD9-81ED-4DB2-BD59-A6C34878D82A}">
                    <a16:rowId xmlns:a16="http://schemas.microsoft.com/office/drawing/2014/main" val="10001"/>
                  </a:ext>
                </a:extLst>
              </a:tr>
            </a:tbl>
          </a:graphicData>
        </a:graphic>
      </p:graphicFrame>
      <p:cxnSp>
        <p:nvCxnSpPr>
          <p:cNvPr id="12" name="Straight Arrow Connector 11">
            <a:extLst>
              <a:ext uri="{FF2B5EF4-FFF2-40B4-BE49-F238E27FC236}">
                <a16:creationId xmlns:a16="http://schemas.microsoft.com/office/drawing/2014/main" id="{76679E84-ABF5-7EFF-2104-0D73FA3C8A5E}"/>
              </a:ext>
            </a:extLst>
          </p:cNvPr>
          <p:cNvCxnSpPr/>
          <p:nvPr/>
        </p:nvCxnSpPr>
        <p:spPr bwMode="auto">
          <a:xfrm flipH="1">
            <a:off x="2571992" y="3494761"/>
            <a:ext cx="741944" cy="349254"/>
          </a:xfrm>
          <a:prstGeom prst="straightConnector1">
            <a:avLst/>
          </a:prstGeom>
          <a:noFill/>
          <a:ln w="38100" cmpd="sng">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F785E6A9-8BA3-7CA1-C262-EBF8C81DAD4B}"/>
              </a:ext>
            </a:extLst>
          </p:cNvPr>
          <p:cNvGraphicFramePr>
            <a:graphicFrameLocks noGrp="1"/>
          </p:cNvGraphicFramePr>
          <p:nvPr>
            <p:extLst>
              <p:ext uri="{D42A27DB-BD31-4B8C-83A1-F6EECF244321}">
                <p14:modId xmlns:p14="http://schemas.microsoft.com/office/powerpoint/2010/main" val="3054886158"/>
              </p:ext>
            </p:extLst>
          </p:nvPr>
        </p:nvGraphicFramePr>
        <p:xfrm>
          <a:off x="3052132" y="4697469"/>
          <a:ext cx="1467784" cy="1127760"/>
        </p:xfrm>
        <a:graphic>
          <a:graphicData uri="http://schemas.openxmlformats.org/drawingml/2006/table">
            <a:tbl>
              <a:tblPr firstRow="1" bandRow="1">
                <a:tableStyleId>{5C22544A-7EE6-4342-B048-85BDC9FD1C3A}</a:tableStyleId>
              </a:tblPr>
              <a:tblGrid>
                <a:gridCol w="1467784">
                  <a:extLst>
                    <a:ext uri="{9D8B030D-6E8A-4147-A177-3AD203B41FA5}">
                      <a16:colId xmlns:a16="http://schemas.microsoft.com/office/drawing/2014/main" val="20000"/>
                    </a:ext>
                  </a:extLst>
                </a:gridCol>
              </a:tblGrid>
              <a:tr h="230811">
                <a:tc>
                  <a:txBody>
                    <a:bodyPr/>
                    <a:lstStyle/>
                    <a:p>
                      <a:pPr algn="ctr"/>
                      <a:r>
                        <a:rPr lang="en-US" sz="1400">
                          <a:latin typeface="Arial" pitchFamily="34" charset="0"/>
                          <a:cs typeface="Arial" pitchFamily="34" charset="0"/>
                        </a:rPr>
                        <a:t>KHOAN_CHI</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371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a:latin typeface="Arial" pitchFamily="34" charset="0"/>
                          <a:cs typeface="Arial" pitchFamily="34" charset="0"/>
                        </a:rPr>
                        <a:t>ID</a:t>
                      </a:r>
                      <a:r>
                        <a:rPr lang="en-US" sz="1200">
                          <a:latin typeface="Arial" pitchFamily="34" charset="0"/>
                          <a:cs typeface="Arial" pitchFamily="34" charset="0"/>
                        </a:rPr>
                        <a:t>, </a:t>
                      </a:r>
                      <a:br>
                        <a:rPr lang="en-US" sz="1200">
                          <a:latin typeface="Arial" pitchFamily="34" charset="0"/>
                          <a:cs typeface="Arial" pitchFamily="34" charset="0"/>
                        </a:rPr>
                      </a:br>
                      <a:r>
                        <a:rPr lang="en-US" sz="1200" b="0" baseline="0">
                          <a:solidFill>
                            <a:schemeClr val="tx1"/>
                          </a:solidFill>
                          <a:latin typeface="Arial" pitchFamily="34" charset="0"/>
                          <a:cs typeface="Arial" pitchFamily="34" charset="0"/>
                        </a:rPr>
                        <a:t>Ngay_chi,</a:t>
                      </a:r>
                      <a:br>
                        <a:rPr lang="en-US" sz="1200" b="0" baseline="0">
                          <a:solidFill>
                            <a:schemeClr val="tx1"/>
                          </a:solidFill>
                          <a:latin typeface="Arial" pitchFamily="34" charset="0"/>
                          <a:cs typeface="Arial" pitchFamily="34" charset="0"/>
                        </a:rPr>
                      </a:br>
                      <a:r>
                        <a:rPr lang="en-US" sz="1200" b="0" baseline="0">
                          <a:solidFill>
                            <a:schemeClr val="tx1"/>
                          </a:solidFill>
                          <a:latin typeface="Arial" pitchFamily="34" charset="0"/>
                          <a:cs typeface="Arial" pitchFamily="34" charset="0"/>
                        </a:rPr>
                        <a:t>So_tien,</a:t>
                      </a:r>
                      <a:r>
                        <a:rPr lang="en-US" sz="1200" b="1" baseline="0">
                          <a:solidFill>
                            <a:schemeClr val="accent6">
                              <a:lumMod val="50000"/>
                            </a:schemeClr>
                          </a:solidFill>
                          <a:latin typeface="Arial" pitchFamily="34" charset="0"/>
                          <a:cs typeface="Arial" pitchFamily="34" charset="0"/>
                        </a:rPr>
                        <a:t> ID_THANH_VIEN</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7944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1310B-A241-15C8-C9FB-E9F89796D897}"/>
            </a:ext>
          </a:extLst>
        </p:cNvPr>
        <p:cNvGrpSpPr/>
        <p:nvPr/>
      </p:nvGrpSpPr>
      <p:grpSpPr>
        <a:xfrm>
          <a:off x="0" y="0"/>
          <a:ext cx="0" cy="0"/>
          <a:chOff x="0" y="0"/>
          <a:chExt cx="0" cy="0"/>
        </a:xfrm>
      </p:grpSpPr>
      <p:sp>
        <p:nvSpPr>
          <p:cNvPr id="10" name="TextBox 102">
            <a:extLst>
              <a:ext uri="{FF2B5EF4-FFF2-40B4-BE49-F238E27FC236}">
                <a16:creationId xmlns:a16="http://schemas.microsoft.com/office/drawing/2014/main" id="{102ADFE7-F071-83BC-1327-5A5720C3DC05}"/>
              </a:ext>
            </a:extLst>
          </p:cNvPr>
          <p:cNvSpPr txBox="1">
            <a:spLocks noChangeArrowheads="1"/>
          </p:cNvSpPr>
          <p:nvPr/>
        </p:nvSpPr>
        <p:spPr bwMode="auto">
          <a:xfrm>
            <a:off x="185654" y="908720"/>
            <a:ext cx="8778834" cy="830997"/>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Ngữ cảnh </a:t>
            </a:r>
            <a:br>
              <a:rPr lang="en-US" sz="1200">
                <a:latin typeface="Arial" pitchFamily="34" charset="0"/>
                <a:cs typeface="Arial" pitchFamily="34" charset="0"/>
              </a:rPr>
            </a:br>
            <a:r>
              <a:rPr lang="en-US" sz="1200">
                <a:latin typeface="Arial" pitchFamily="34" charset="0"/>
                <a:cs typeface="Arial" pitchFamily="34" charset="0"/>
              </a:rPr>
              <a:t>  Gia đình X có trung bình 4 thành viên với thông tin cần quản lý chỉ bao gồm Họ tên, Giới tính, Ngày sinh, Hình. Mỗi thành viên đều có  các khoản thu, khoản chi riêng .( giả sử chưa xem xét thu chi chung của cả gia đình  ) với thông tin cần ghi nhận  bao gồm ngày thu/chi , số tiền. </a:t>
            </a:r>
            <a:endParaRPr lang="en-US" sz="1200" b="1">
              <a:latin typeface="Arial" pitchFamily="34" charset="0"/>
              <a:cs typeface="Arial" pitchFamily="34" charset="0"/>
            </a:endParaRPr>
          </a:p>
        </p:txBody>
      </p:sp>
      <p:sp>
        <p:nvSpPr>
          <p:cNvPr id="14" name="Rounded Rectangle 13">
            <a:hlinkClick r:id="rId3" action="ppaction://hlinksldjump"/>
            <a:extLst>
              <a:ext uri="{FF2B5EF4-FFF2-40B4-BE49-F238E27FC236}">
                <a16:creationId xmlns:a16="http://schemas.microsoft.com/office/drawing/2014/main" id="{6DE3A7BE-FF50-F880-2739-8F3FE005E61F}"/>
              </a:ext>
            </a:extLst>
          </p:cNvPr>
          <p:cNvSpPr/>
          <p:nvPr/>
        </p:nvSpPr>
        <p:spPr>
          <a:xfrm>
            <a:off x="2843808" y="159200"/>
            <a:ext cx="3240359" cy="576064"/>
          </a:xfrm>
          <a:prstGeom prst="roundRect">
            <a:avLst/>
          </a:prstGeom>
          <a:solidFill>
            <a:schemeClr val="tx2">
              <a:lumMod val="75000"/>
            </a:schemeClr>
          </a:solidFill>
          <a:ln>
            <a:solidFill>
              <a:srgbClr val="002060"/>
            </a:solidFill>
          </a:ln>
          <a:effectLst>
            <a:outerShdw blurRad="482600" dir="5400000" sx="89000" sy="89000" algn="ctr" rotWithShape="0">
              <a:srgbClr val="000000">
                <a:alpha val="49000"/>
              </a:srgbClr>
            </a:outerShdw>
          </a:effectLst>
          <a:scene3d>
            <a:camera prst="orthographicFront"/>
            <a:lightRig rig="twoPt" dir="t"/>
          </a:scene3d>
          <a:sp3d extrusionH="12700" prstMaterial="translucentPowder">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b="1">
                <a:solidFill>
                  <a:srgbClr val="FFFF00"/>
                </a:solidFill>
              </a:rPr>
              <a:t>Quản</a:t>
            </a:r>
            <a:r>
              <a:rPr lang="en-US" sz="1600" b="1">
                <a:solidFill>
                  <a:srgbClr val="FFFF00"/>
                </a:solidFill>
              </a:rPr>
              <a:t> lý thu chi gia đình </a:t>
            </a:r>
            <a:br>
              <a:rPr lang="en-US" sz="1600" b="1">
                <a:solidFill>
                  <a:srgbClr val="FFFF00"/>
                </a:solidFill>
              </a:rPr>
            </a:br>
            <a:r>
              <a:rPr lang="en-US" sz="1600" b="1">
                <a:solidFill>
                  <a:schemeClr val="bg1"/>
                </a:solidFill>
              </a:rPr>
              <a:t>Cấu trúc tập tin JSON</a:t>
            </a:r>
            <a:endParaRPr lang="vi-VN" sz="1600" b="1">
              <a:solidFill>
                <a:srgbClr val="FFFF00"/>
              </a:solidFill>
            </a:endParaRPr>
          </a:p>
        </p:txBody>
      </p:sp>
      <p:sp>
        <p:nvSpPr>
          <p:cNvPr id="16" name="Footer Placeholder 1">
            <a:extLst>
              <a:ext uri="{FF2B5EF4-FFF2-40B4-BE49-F238E27FC236}">
                <a16:creationId xmlns:a16="http://schemas.microsoft.com/office/drawing/2014/main" id="{B65283DA-BCEB-DB89-C42F-4F663C5FB4BA}"/>
              </a:ext>
            </a:extLst>
          </p:cNvPr>
          <p:cNvSpPr>
            <a:spLocks noGrp="1"/>
          </p:cNvSpPr>
          <p:nvPr>
            <p:ph type="ftr" sz="quarter" idx="11"/>
          </p:nvPr>
        </p:nvSpPr>
        <p:spPr>
          <a:xfrm>
            <a:off x="2702710" y="6359842"/>
            <a:ext cx="3723827" cy="365125"/>
          </a:xfrm>
        </p:spPr>
        <p:txBody>
          <a:bodyPr/>
          <a:lstStyle/>
          <a:p>
            <a:pPr>
              <a:defRPr/>
            </a:pPr>
            <a:r>
              <a:rPr lang="vi-VN" sz="1600" b="1">
                <a:solidFill>
                  <a:schemeClr val="tx1"/>
                </a:solidFill>
              </a:rPr>
              <a:t>Nguyễn tiến Huy - Tháng 3/2025</a:t>
            </a:r>
          </a:p>
        </p:txBody>
      </p:sp>
      <p:sp>
        <p:nvSpPr>
          <p:cNvPr id="9" name="TextBox 102">
            <a:extLst>
              <a:ext uri="{FF2B5EF4-FFF2-40B4-BE49-F238E27FC236}">
                <a16:creationId xmlns:a16="http://schemas.microsoft.com/office/drawing/2014/main" id="{B7DCB83C-844A-524C-A270-FF818C9CB95B}"/>
              </a:ext>
            </a:extLst>
          </p:cNvPr>
          <p:cNvSpPr txBox="1">
            <a:spLocks noChangeArrowheads="1"/>
          </p:cNvSpPr>
          <p:nvPr/>
        </p:nvSpPr>
        <p:spPr bwMode="auto">
          <a:xfrm>
            <a:off x="207509" y="1913173"/>
            <a:ext cx="4076460" cy="1015663"/>
          </a:xfrm>
          <a:prstGeom prst="rect">
            <a:avLst/>
          </a:prstGeom>
          <a:noFill/>
          <a:ln w="25400">
            <a:solidFill>
              <a:schemeClr val="accent1">
                <a:shade val="50000"/>
              </a:schemeClr>
            </a:solidFill>
            <a:miter lim="800000"/>
            <a:headEnd/>
            <a:tailEnd/>
          </a:ln>
        </p:spPr>
        <p:txBody>
          <a:bodyPr wrap="square">
            <a:spAutoFit/>
          </a:bodyPr>
          <a:lstStyle/>
          <a:p>
            <a:pPr fontAlgn="auto">
              <a:spcBef>
                <a:spcPts val="0"/>
              </a:spcBef>
              <a:spcAft>
                <a:spcPts val="0"/>
              </a:spcAft>
              <a:defRPr/>
            </a:pPr>
            <a:r>
              <a:rPr lang="en-US" sz="1200" b="1">
                <a:solidFill>
                  <a:srgbClr val="FF0000"/>
                </a:solidFill>
                <a:latin typeface="Arial" pitchFamily="34" charset="0"/>
                <a:cs typeface="Arial" pitchFamily="34" charset="0"/>
              </a:rPr>
              <a:t>Yêu cầu  của ứng dụng </a:t>
            </a:r>
            <a:br>
              <a:rPr lang="en-US" sz="1200">
                <a:latin typeface="Arial" pitchFamily="34" charset="0"/>
                <a:cs typeface="Arial" pitchFamily="34" charset="0"/>
              </a:rPr>
            </a:br>
            <a:r>
              <a:rPr lang="en-US" sz="1200">
                <a:latin typeface="Arial" pitchFamily="34" charset="0"/>
                <a:cs typeface="Arial" pitchFamily="34" charset="0"/>
              </a:rPr>
              <a:t>   . Xây dựng ứng dụng cho phép người dùng </a:t>
            </a:r>
            <a:br>
              <a:rPr lang="en-US" sz="1200">
                <a:latin typeface="Arial" pitchFamily="34" charset="0"/>
                <a:cs typeface="Arial" pitchFamily="34" charset="0"/>
              </a:rPr>
            </a:br>
            <a:r>
              <a:rPr lang="en-US" sz="1200">
                <a:latin typeface="Arial" pitchFamily="34" charset="0"/>
                <a:cs typeface="Arial" pitchFamily="34" charset="0"/>
              </a:rPr>
              <a:t>1. Quản lý được các khoản thu, Khoản chi</a:t>
            </a:r>
            <a:br>
              <a:rPr lang="en-US" sz="1200">
                <a:latin typeface="Arial" pitchFamily="34" charset="0"/>
                <a:cs typeface="Arial" pitchFamily="34" charset="0"/>
              </a:rPr>
            </a:br>
            <a:r>
              <a:rPr lang="en-US" sz="1200">
                <a:latin typeface="Arial" pitchFamily="34" charset="0"/>
                <a:cs typeface="Arial" pitchFamily="34" charset="0"/>
              </a:rPr>
              <a:t>2. Tra cứu việc thu chi theo : Thành viên, Ngày, Số tiền </a:t>
            </a:r>
            <a:br>
              <a:rPr lang="en-US" sz="1200">
                <a:latin typeface="Arial" pitchFamily="34" charset="0"/>
                <a:cs typeface="Arial" pitchFamily="34" charset="0"/>
              </a:rPr>
            </a:br>
            <a:r>
              <a:rPr lang="en-US" sz="1200">
                <a:latin typeface="Arial" pitchFamily="34" charset="0"/>
                <a:cs typeface="Arial" pitchFamily="34" charset="0"/>
              </a:rPr>
              <a:t>3. Lập các báo cáo thống kê thu/chi theo các biểu mẩu </a:t>
            </a:r>
            <a:endParaRPr lang="en-US" sz="1200" b="1">
              <a:latin typeface="Arial" pitchFamily="34" charset="0"/>
              <a:cs typeface="Arial" pitchFamily="34" charset="0"/>
            </a:endParaRPr>
          </a:p>
        </p:txBody>
      </p:sp>
      <p:graphicFrame>
        <p:nvGraphicFramePr>
          <p:cNvPr id="4" name="Table 3">
            <a:extLst>
              <a:ext uri="{FF2B5EF4-FFF2-40B4-BE49-F238E27FC236}">
                <a16:creationId xmlns:a16="http://schemas.microsoft.com/office/drawing/2014/main" id="{5B29338F-CFE8-12FA-35DA-7929FAD102B3}"/>
              </a:ext>
            </a:extLst>
          </p:cNvPr>
          <p:cNvGraphicFramePr>
            <a:graphicFrameLocks noGrp="1"/>
          </p:cNvGraphicFramePr>
          <p:nvPr>
            <p:extLst>
              <p:ext uri="{D42A27DB-BD31-4B8C-83A1-F6EECF244321}">
                <p14:modId xmlns:p14="http://schemas.microsoft.com/office/powerpoint/2010/main" val="3380619380"/>
              </p:ext>
            </p:extLst>
          </p:nvPr>
        </p:nvGraphicFramePr>
        <p:xfrm>
          <a:off x="556837" y="3248770"/>
          <a:ext cx="3727131" cy="1190184"/>
        </p:xfrm>
        <a:graphic>
          <a:graphicData uri="http://schemas.openxmlformats.org/drawingml/2006/table">
            <a:tbl>
              <a:tblPr firstRow="1" bandRow="1">
                <a:tableStyleId>{5C22544A-7EE6-4342-B048-85BDC9FD1C3A}</a:tableStyleId>
              </a:tblPr>
              <a:tblGrid>
                <a:gridCol w="3727131">
                  <a:extLst>
                    <a:ext uri="{9D8B030D-6E8A-4147-A177-3AD203B41FA5}">
                      <a16:colId xmlns:a16="http://schemas.microsoft.com/office/drawing/2014/main" val="20000"/>
                    </a:ext>
                  </a:extLst>
                </a:gridCol>
              </a:tblGrid>
              <a:tr h="367224">
                <a:tc>
                  <a:txBody>
                    <a:bodyPr/>
                    <a:lstStyle/>
                    <a:p>
                      <a:pPr algn="ctr"/>
                      <a:r>
                        <a:rPr lang="en-US" sz="1400">
                          <a:latin typeface="Arial" pitchFamily="34" charset="0"/>
                          <a:cs typeface="Arial" pitchFamily="34" charset="0"/>
                        </a:rPr>
                        <a:t>THANH_VIEN</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5912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Arial" pitchFamily="34" charset="0"/>
                          <a:cs typeface="Arial" pitchFamily="34" charset="0"/>
                        </a:rPr>
                        <a:t>Ho_ten,</a:t>
                      </a:r>
                      <a:r>
                        <a:rPr lang="en-US" sz="1200" b="0" baseline="0">
                          <a:solidFill>
                            <a:schemeClr val="tx1"/>
                          </a:solidFill>
                          <a:latin typeface="Arial" pitchFamily="34" charset="0"/>
                          <a:cs typeface="Arial" pitchFamily="34" charset="0"/>
                        </a:rPr>
                        <a:t> Ngay_sinh, </a:t>
                      </a:r>
                      <a:br>
                        <a:rPr lang="en-US" sz="1200" b="0" baseline="0">
                          <a:solidFill>
                            <a:schemeClr val="tx1"/>
                          </a:solidFill>
                          <a:latin typeface="Arial" pitchFamily="34" charset="0"/>
                          <a:cs typeface="Arial" pitchFamily="34" charset="0"/>
                        </a:rPr>
                      </a:br>
                      <a:r>
                        <a:rPr lang="en-US" sz="1200" b="0" baseline="0">
                          <a:solidFill>
                            <a:schemeClr val="tx1"/>
                          </a:solidFill>
                          <a:latin typeface="Arial" pitchFamily="34" charset="0"/>
                          <a:cs typeface="Arial" pitchFamily="34" charset="0"/>
                        </a:rPr>
                        <a:t>Gioi_tinh(Ten,Ma_so)</a:t>
                      </a:r>
                      <a:br>
                        <a:rPr lang="en-US" sz="1200" b="0" baseline="0">
                          <a:solidFill>
                            <a:schemeClr val="tx1"/>
                          </a:solidFill>
                          <a:latin typeface="Arial" pitchFamily="34" charset="0"/>
                          <a:cs typeface="Arial" pitchFamily="34" charset="0"/>
                        </a:rPr>
                      </a:br>
                      <a:r>
                        <a:rPr lang="en-US" sz="1200" b="0" baseline="0">
                          <a:solidFill>
                            <a:schemeClr val="tx1"/>
                          </a:solidFill>
                          <a:latin typeface="Arial" pitchFamily="34" charset="0"/>
                          <a:cs typeface="Arial" pitchFamily="34" charset="0"/>
                        </a:rPr>
                        <a:t>Danh_sach_khoan_thu(Ngay_thu,So_tien)</a:t>
                      </a:r>
                      <a:br>
                        <a:rPr lang="en-US" sz="1200" b="0" baseline="0">
                          <a:solidFill>
                            <a:schemeClr val="tx1"/>
                          </a:solidFill>
                          <a:latin typeface="Arial" pitchFamily="34" charset="0"/>
                          <a:cs typeface="Arial" pitchFamily="34" charset="0"/>
                        </a:rPr>
                      </a:br>
                      <a:r>
                        <a:rPr lang="en-US" sz="1200" b="0" baseline="0">
                          <a:solidFill>
                            <a:schemeClr val="tx1"/>
                          </a:solidFill>
                          <a:latin typeface="Arial" pitchFamily="34" charset="0"/>
                          <a:cs typeface="Arial" pitchFamily="34" charset="0"/>
                        </a:rPr>
                        <a:t>Danh_sach_khoan_chi(Ngay_chi,So_tien)</a:t>
                      </a:r>
                      <a:endParaRPr lang="vi-VN" sz="1200" b="0">
                        <a:solidFill>
                          <a:schemeClr val="tx1"/>
                        </a:solidFill>
                        <a:latin typeface="+mn-lt"/>
                        <a:cs typeface="Arial" pitchFamily="34" charset="0"/>
                      </a:endParaRPr>
                    </a:p>
                  </a:txBody>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ED0C22E7-D03C-301A-65F5-BD58719CFEB2}"/>
              </a:ext>
            </a:extLst>
          </p:cNvPr>
          <p:cNvGraphicFramePr>
            <a:graphicFrameLocks noGrp="1"/>
          </p:cNvGraphicFramePr>
          <p:nvPr>
            <p:extLst>
              <p:ext uri="{D42A27DB-BD31-4B8C-83A1-F6EECF244321}">
                <p14:modId xmlns:p14="http://schemas.microsoft.com/office/powerpoint/2010/main" val="3517335065"/>
              </p:ext>
            </p:extLst>
          </p:nvPr>
        </p:nvGraphicFramePr>
        <p:xfrm>
          <a:off x="5242147" y="3418231"/>
          <a:ext cx="1650505" cy="944880"/>
        </p:xfrm>
        <a:graphic>
          <a:graphicData uri="http://schemas.openxmlformats.org/drawingml/2006/table">
            <a:tbl>
              <a:tblPr firstRow="1" bandRow="1">
                <a:tableStyleId>{5C22544A-7EE6-4342-B048-85BDC9FD1C3A}</a:tableStyleId>
              </a:tblPr>
              <a:tblGrid>
                <a:gridCol w="1650505">
                  <a:extLst>
                    <a:ext uri="{9D8B030D-6E8A-4147-A177-3AD203B41FA5}">
                      <a16:colId xmlns:a16="http://schemas.microsoft.com/office/drawing/2014/main" val="20000"/>
                    </a:ext>
                  </a:extLst>
                </a:gridCol>
              </a:tblGrid>
              <a:tr h="0">
                <a:tc>
                  <a:txBody>
                    <a:bodyPr/>
                    <a:lstStyle/>
                    <a:p>
                      <a:pPr algn="ctr"/>
                      <a:r>
                        <a:rPr lang="en-US" sz="1400">
                          <a:latin typeface="Arial" pitchFamily="34" charset="0"/>
                          <a:cs typeface="Arial" pitchFamily="34" charset="0"/>
                        </a:rPr>
                        <a:t>GIA_DINH</a:t>
                      </a:r>
                      <a:endParaRPr lang="vi-VN" sz="1400">
                        <a:latin typeface="Arial" pitchFamily="34" charset="0"/>
                        <a:cs typeface="Arial" pitchFamily="34" charset="0"/>
                      </a:endParaRPr>
                    </a:p>
                  </a:txBody>
                  <a:tcPr/>
                </a:tc>
                <a:extLst>
                  <a:ext uri="{0D108BD9-81ED-4DB2-BD59-A6C34878D82A}">
                    <a16:rowId xmlns:a16="http://schemas.microsoft.com/office/drawing/2014/main" val="10000"/>
                  </a:ext>
                </a:extLst>
              </a:tr>
              <a:tr h="2335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u="sng">
                          <a:latin typeface="Arial" pitchFamily="34" charset="0"/>
                          <a:cs typeface="Arial" pitchFamily="34" charset="0"/>
                        </a:rPr>
                        <a:t>T</a:t>
                      </a:r>
                      <a:r>
                        <a:rPr lang="en-US" sz="1200">
                          <a:latin typeface="Arial" pitchFamily="34" charset="0"/>
                          <a:cs typeface="Arial" pitchFamily="34" charset="0"/>
                        </a:rPr>
                        <a:t>en, Dien_thoai,Dia_chi</a:t>
                      </a:r>
                      <a:br>
                        <a:rPr lang="en-US" sz="1200" baseline="0">
                          <a:latin typeface="Arial" pitchFamily="34" charset="0"/>
                          <a:cs typeface="Arial" pitchFamily="34" charset="0"/>
                        </a:rPr>
                      </a:br>
                      <a:endParaRPr lang="vi-VN" sz="1200" b="0">
                        <a:solidFill>
                          <a:schemeClr val="tx1"/>
                        </a:solidFill>
                        <a:latin typeface="Arial" pitchFamily="34" charset="0"/>
                        <a:cs typeface="Arial" pitchFamily="34" charset="0"/>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806036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4206</TotalTime>
  <Words>1587</Words>
  <Application>Microsoft Office PowerPoint</Application>
  <PresentationFormat>On-screen Show (4:3)</PresentationFormat>
  <Paragraphs>92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nth_Giangday</cp:lastModifiedBy>
  <cp:revision>359</cp:revision>
  <dcterms:created xsi:type="dcterms:W3CDTF">2010-11-07T07:20:10Z</dcterms:created>
  <dcterms:modified xsi:type="dcterms:W3CDTF">2025-03-21T22:50:59Z</dcterms:modified>
</cp:coreProperties>
</file>