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6" r:id="rId2"/>
  </p:sldIdLst>
  <p:sldSz cx="9144000" cy="6858000" type="screen4x3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 autoAdjust="0"/>
    <p:restoredTop sz="94716" autoAdjust="0"/>
  </p:normalViewPr>
  <p:slideViewPr>
    <p:cSldViewPr>
      <p:cViewPr varScale="1">
        <p:scale>
          <a:sx n="85" d="100"/>
          <a:sy n="85" d="100"/>
        </p:scale>
        <p:origin x="1554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26EA30-B6F2-4B1C-B4C9-2131DDE7DA9C}" type="datetimeFigureOut">
              <a:rPr lang="vi-VN" smtClean="0"/>
              <a:t>01/03/2025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DE068-28BF-42CC-8C16-8D968C0B4F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7458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DE068-28BF-42CC-8C16-8D968C0B4F4E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48026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4000-C56C-45F0-B5B5-5A6F7F4B861B}" type="datetime1">
              <a:rPr lang="vi-VN" smtClean="0"/>
              <a:t>01/03/2025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Nguyễn tiến Huy   Tháng 2/2025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DB07-E5D3-4F9C-8C1C-CCBCED4679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47443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1953C-4B85-459E-8B12-A3B48DE1554C}" type="datetime1">
              <a:rPr lang="vi-VN" smtClean="0"/>
              <a:t>01/03/2025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Nguyễn tiến Huy   Tháng 2/2025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DB07-E5D3-4F9C-8C1C-CCBCED4679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10334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5CC34-AD13-4ED2-A129-25BBAA6D4E58}" type="datetime1">
              <a:rPr lang="vi-VN" smtClean="0"/>
              <a:t>01/03/2025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Nguyễn tiến Huy   Tháng 2/2025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DB07-E5D3-4F9C-8C1C-CCBCED4679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3087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E2A4-4D76-4209-BE18-836EBD9E47F9}" type="datetime1">
              <a:rPr lang="vi-VN" smtClean="0"/>
              <a:t>01/03/2025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Nguyễn tiến Huy   Tháng 2/2025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DB07-E5D3-4F9C-8C1C-CCBCED4679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19647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12865-148A-4AF4-B89F-938FA5C5D00C}" type="datetime1">
              <a:rPr lang="vi-VN" smtClean="0"/>
              <a:t>01/03/2025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Nguyễn tiến Huy   Tháng 2/2025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DB07-E5D3-4F9C-8C1C-CCBCED4679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984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BBE41-8FD6-4DA3-900F-8388B6C9E7CA}" type="datetime1">
              <a:rPr lang="vi-VN" smtClean="0"/>
              <a:t>01/03/2025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Nguyễn tiến Huy   Tháng 2/2025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DB07-E5D3-4F9C-8C1C-CCBCED4679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6047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0FAE-F884-4D7E-8EF5-44E8A20CC222}" type="datetime1">
              <a:rPr lang="vi-VN" smtClean="0"/>
              <a:t>01/03/2025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Nguyễn tiến Huy   Tháng 2/2025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DB07-E5D3-4F9C-8C1C-CCBCED4679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02594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FB277-BCDD-4F43-8057-AF6578F30133}" type="datetime1">
              <a:rPr lang="vi-VN" smtClean="0"/>
              <a:t>01/03/2025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Nguyễn tiến Huy   Tháng 2/2025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DB07-E5D3-4F9C-8C1C-CCBCED4679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785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E0B9D-A1F4-4651-8600-07FF847CE2ED}" type="datetime1">
              <a:rPr lang="vi-VN" smtClean="0"/>
              <a:t>01/03/2025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Nguyễn tiến Huy   Tháng 2/2025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DB07-E5D3-4F9C-8C1C-CCBCED4679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1882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A26-BD30-44BF-87F6-B5063575429F}" type="datetime1">
              <a:rPr lang="vi-VN" smtClean="0"/>
              <a:t>01/03/2025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Nguyễn tiến Huy   Tháng 2/2025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DB07-E5D3-4F9C-8C1C-CCBCED4679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0113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6C0D-EA02-4286-8A95-34037E53002E}" type="datetime1">
              <a:rPr lang="vi-VN" smtClean="0"/>
              <a:t>01/03/2025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Nguyễn tiến Huy   Tháng 2/2025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DB07-E5D3-4F9C-8C1C-CCBCED4679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3113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3EC2E-F798-455F-B086-AF350F8C8C20}" type="datetime1">
              <a:rPr lang="vi-VN" smtClean="0"/>
              <a:t>01/03/2025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Nguyễn tiến Huy   Tháng 2/2025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6DB07-E5D3-4F9C-8C1C-CCBCED4679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25967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hlinkClick r:id="" action="ppaction://noaction"/>
          </p:cNvPr>
          <p:cNvSpPr/>
          <p:nvPr/>
        </p:nvSpPr>
        <p:spPr>
          <a:xfrm>
            <a:off x="2529283" y="301957"/>
            <a:ext cx="3637072" cy="67218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rgbClr val="002060"/>
            </a:solidFill>
          </a:ln>
          <a:effectLst>
            <a:outerShdw blurRad="482600" dir="5400000" sx="89000" sy="89000" algn="ctr" rotWithShape="0">
              <a:srgbClr val="000000">
                <a:alpha val="49000"/>
              </a:srgbClr>
            </a:outerShdw>
          </a:effectLst>
          <a:scene3d>
            <a:camera prst="orthographicFront"/>
            <a:lightRig rig="twoPt" dir="t"/>
          </a:scene3d>
          <a:sp3d extrusionH="12700" prstMaterial="translucentPowder"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Phân tích yêu cầu </a:t>
            </a:r>
            <a:br>
              <a:rPr lang="en-US" sz="2000" b="1"/>
            </a:br>
            <a:r>
              <a:rPr lang="en-US" sz="2000" b="1">
                <a:solidFill>
                  <a:srgbClr val="FFFF00"/>
                </a:solidFill>
              </a:rPr>
              <a:t>Sơ đồ lớp đối tượng </a:t>
            </a:r>
            <a:endParaRPr lang="vi-VN" sz="2000" b="1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Nguyễn tiến Huy   Tháng 2/2025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240523"/>
              </p:ext>
            </p:extLst>
          </p:nvPr>
        </p:nvGraphicFramePr>
        <p:xfrm>
          <a:off x="243966" y="2284610"/>
          <a:ext cx="2160240" cy="1053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40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rial" pitchFamily="34" charset="0"/>
                          <a:cs typeface="Arial" pitchFamily="34" charset="0"/>
                        </a:rPr>
                        <a:t>Tên</a:t>
                      </a:r>
                      <a:r>
                        <a:rPr lang="en-US" sz="1600" baseline="0">
                          <a:latin typeface="Arial" pitchFamily="34" charset="0"/>
                          <a:cs typeface="Arial" pitchFamily="34" charset="0"/>
                        </a:rPr>
                        <a:t> lớp </a:t>
                      </a:r>
                      <a:endParaRPr lang="vi-VN" sz="16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033"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itchFamily="34" charset="0"/>
                          <a:cs typeface="Arial" pitchFamily="34" charset="0"/>
                        </a:rPr>
                        <a:t>Các</a:t>
                      </a:r>
                      <a:r>
                        <a:rPr lang="en-US" sz="1600" baseline="0">
                          <a:latin typeface="Arial" pitchFamily="34" charset="0"/>
                          <a:cs typeface="Arial" pitchFamily="34" charset="0"/>
                        </a:rPr>
                        <a:t> thuộc tính </a:t>
                      </a:r>
                      <a:endParaRPr lang="vi-VN" sz="16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483"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endParaRPr lang="vi-VN" sz="16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" name="Rectangle 41"/>
          <p:cNvSpPr/>
          <p:nvPr/>
        </p:nvSpPr>
        <p:spPr bwMode="auto">
          <a:xfrm>
            <a:off x="4369689" y="2369329"/>
            <a:ext cx="1722861" cy="3571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>
                <a:solidFill>
                  <a:schemeClr val="tx1"/>
                </a:solidFill>
              </a:rPr>
              <a:t>Quan hệ 1 – Nhiều </a:t>
            </a:r>
            <a:endParaRPr lang="vi-VN" sz="1600">
              <a:solidFill>
                <a:schemeClr val="tx1"/>
              </a:solidFill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2615815" y="2284320"/>
            <a:ext cx="1489365" cy="369334"/>
            <a:chOff x="274324" y="3828805"/>
            <a:chExt cx="1489365" cy="369334"/>
          </a:xfrm>
        </p:grpSpPr>
        <p:grpSp>
          <p:nvGrpSpPr>
            <p:cNvPr id="44" name="Group 43"/>
            <p:cNvGrpSpPr/>
            <p:nvPr/>
          </p:nvGrpSpPr>
          <p:grpSpPr>
            <a:xfrm>
              <a:off x="327225" y="3828805"/>
              <a:ext cx="1436464" cy="369334"/>
              <a:chOff x="327225" y="3979056"/>
              <a:chExt cx="1436464" cy="369334"/>
            </a:xfrm>
          </p:grpSpPr>
          <p:sp>
            <p:nvSpPr>
              <p:cNvPr id="46" name="Line 13"/>
              <p:cNvSpPr>
                <a:spLocks noChangeShapeType="1"/>
              </p:cNvSpPr>
              <p:nvPr/>
            </p:nvSpPr>
            <p:spPr bwMode="auto">
              <a:xfrm rot="16200000" flipH="1" flipV="1">
                <a:off x="1040493" y="3625195"/>
                <a:ext cx="9927" cy="1436463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 type="none"/>
                <a:tailEnd type="none" w="med" len="med"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1421649" y="3979056"/>
                <a:ext cx="342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/>
                  <a:t>*</a:t>
                </a:r>
                <a:endParaRPr lang="vi-VN" b="1"/>
              </a:p>
            </p:txBody>
          </p:sp>
        </p:grpSp>
        <p:sp>
          <p:nvSpPr>
            <p:cNvPr id="45" name="TextBox 44"/>
            <p:cNvSpPr txBox="1"/>
            <p:nvPr/>
          </p:nvSpPr>
          <p:spPr>
            <a:xfrm>
              <a:off x="274324" y="3849658"/>
              <a:ext cx="1190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Tên quan hệ</a:t>
              </a:r>
              <a:endParaRPr lang="vi-VN" sz="1600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2545565" y="2881311"/>
            <a:ext cx="1660385" cy="393891"/>
            <a:chOff x="4640443" y="4283169"/>
            <a:chExt cx="1660385" cy="393891"/>
          </a:xfrm>
        </p:grpSpPr>
        <p:grpSp>
          <p:nvGrpSpPr>
            <p:cNvPr id="49" name="Group 48"/>
            <p:cNvGrpSpPr/>
            <p:nvPr/>
          </p:nvGrpSpPr>
          <p:grpSpPr>
            <a:xfrm>
              <a:off x="4864364" y="4283169"/>
              <a:ext cx="1436464" cy="369334"/>
              <a:chOff x="327225" y="3828805"/>
              <a:chExt cx="1436464" cy="369334"/>
            </a:xfrm>
          </p:grpSpPr>
          <p:grpSp>
            <p:nvGrpSpPr>
              <p:cNvPr id="51" name="Group 50"/>
              <p:cNvGrpSpPr/>
              <p:nvPr/>
            </p:nvGrpSpPr>
            <p:grpSpPr>
              <a:xfrm>
                <a:off x="327225" y="3828805"/>
                <a:ext cx="1436464" cy="369334"/>
                <a:chOff x="327225" y="3979056"/>
                <a:chExt cx="1436464" cy="369334"/>
              </a:xfrm>
            </p:grpSpPr>
            <p:sp>
              <p:nvSpPr>
                <p:cNvPr id="53" name="Line 13"/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1040493" y="3625195"/>
                  <a:ext cx="9927" cy="1436463"/>
                </a:xfrm>
                <a:prstGeom prst="line">
                  <a:avLst/>
                </a:prstGeom>
                <a:noFill/>
                <a:ln w="50800">
                  <a:solidFill>
                    <a:srgbClr val="000000"/>
                  </a:solidFill>
                  <a:round/>
                  <a:headEnd type="none"/>
                  <a:tailEnd type="none" w="med" len="med"/>
                </a:ln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1421649" y="3979056"/>
                  <a:ext cx="3420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/>
                    <a:t>*</a:t>
                  </a:r>
                  <a:endParaRPr lang="vi-VN" b="1"/>
                </a:p>
              </p:txBody>
            </p:sp>
          </p:grpSp>
          <p:sp>
            <p:nvSpPr>
              <p:cNvPr id="52" name="TextBox 51"/>
              <p:cNvSpPr txBox="1"/>
              <p:nvPr/>
            </p:nvSpPr>
            <p:spPr>
              <a:xfrm>
                <a:off x="336385" y="3849658"/>
                <a:ext cx="1190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/>
                  <a:t>Tên quan hệ</a:t>
                </a:r>
                <a:endParaRPr lang="vi-VN" sz="1600"/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4640443" y="4307728"/>
              <a:ext cx="342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/>
                <a:t>*</a:t>
              </a:r>
              <a:endParaRPr lang="vi-VN" b="1"/>
            </a:p>
          </p:txBody>
        </p:sp>
      </p:grpSp>
      <p:sp>
        <p:nvSpPr>
          <p:cNvPr id="55" name="Rectangle 54"/>
          <p:cNvSpPr/>
          <p:nvPr/>
        </p:nvSpPr>
        <p:spPr bwMode="auto">
          <a:xfrm>
            <a:off x="4332716" y="2947019"/>
            <a:ext cx="2192934" cy="3571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>
                <a:solidFill>
                  <a:schemeClr val="tx1"/>
                </a:solidFill>
              </a:rPr>
              <a:t>Quan hệ Nhiều – Nhiều </a:t>
            </a:r>
            <a:endParaRPr lang="vi-VN" sz="1600">
              <a:solidFill>
                <a:schemeClr val="tx1"/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243083" y="3543196"/>
            <a:ext cx="1677166" cy="477346"/>
            <a:chOff x="120973" y="5483381"/>
            <a:chExt cx="1677166" cy="477346"/>
          </a:xfrm>
        </p:grpSpPr>
        <p:sp>
          <p:nvSpPr>
            <p:cNvPr id="57" name="Flowchart: Decision 56"/>
            <p:cNvSpPr/>
            <p:nvPr/>
          </p:nvSpPr>
          <p:spPr>
            <a:xfrm>
              <a:off x="120973" y="5744703"/>
              <a:ext cx="288032" cy="216024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361675" y="5483381"/>
              <a:ext cx="1436464" cy="369334"/>
              <a:chOff x="327225" y="3828805"/>
              <a:chExt cx="1436464" cy="369334"/>
            </a:xfrm>
          </p:grpSpPr>
          <p:grpSp>
            <p:nvGrpSpPr>
              <p:cNvPr id="59" name="Group 58"/>
              <p:cNvGrpSpPr/>
              <p:nvPr/>
            </p:nvGrpSpPr>
            <p:grpSpPr>
              <a:xfrm>
                <a:off x="327225" y="3828805"/>
                <a:ext cx="1436464" cy="369334"/>
                <a:chOff x="327225" y="3979056"/>
                <a:chExt cx="1436464" cy="369334"/>
              </a:xfrm>
            </p:grpSpPr>
            <p:sp>
              <p:nvSpPr>
                <p:cNvPr id="61" name="Line 13"/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1040493" y="3625195"/>
                  <a:ext cx="9927" cy="1436463"/>
                </a:xfrm>
                <a:prstGeom prst="line">
                  <a:avLst/>
                </a:prstGeom>
                <a:noFill/>
                <a:ln w="50800">
                  <a:solidFill>
                    <a:srgbClr val="000000"/>
                  </a:solidFill>
                  <a:round/>
                  <a:headEnd type="none"/>
                  <a:tailEnd type="none" w="med" len="med"/>
                </a:ln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62" name="TextBox 61"/>
                <p:cNvSpPr txBox="1"/>
                <p:nvPr/>
              </p:nvSpPr>
              <p:spPr>
                <a:xfrm>
                  <a:off x="1421649" y="3979056"/>
                  <a:ext cx="3420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/>
                    <a:t>*</a:t>
                  </a:r>
                  <a:endParaRPr lang="vi-VN" b="1"/>
                </a:p>
              </p:txBody>
            </p:sp>
          </p:grpSp>
          <p:sp>
            <p:nvSpPr>
              <p:cNvPr id="60" name="TextBox 59"/>
              <p:cNvSpPr txBox="1"/>
              <p:nvPr/>
            </p:nvSpPr>
            <p:spPr>
              <a:xfrm>
                <a:off x="336385" y="3849658"/>
                <a:ext cx="1190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/>
                  <a:t>Tên quan hệ</a:t>
                </a:r>
                <a:endParaRPr lang="vi-VN" sz="1600"/>
              </a:p>
            </p:txBody>
          </p:sp>
        </p:grpSp>
      </p:grpSp>
      <p:sp>
        <p:nvSpPr>
          <p:cNvPr id="63" name="Rectangle 62"/>
          <p:cNvSpPr/>
          <p:nvPr/>
        </p:nvSpPr>
        <p:spPr bwMode="auto">
          <a:xfrm>
            <a:off x="2300482" y="3663355"/>
            <a:ext cx="1897223" cy="3571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>
                <a:solidFill>
                  <a:schemeClr val="tx1"/>
                </a:solidFill>
              </a:rPr>
              <a:t>Quan hệ Cha – Con </a:t>
            </a:r>
            <a:endParaRPr lang="vi-VN" sz="1600">
              <a:solidFill>
                <a:schemeClr val="tx1"/>
              </a:solidFill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4741535" y="3479171"/>
            <a:ext cx="1723351" cy="475824"/>
            <a:chOff x="4432824" y="4206989"/>
            <a:chExt cx="1723351" cy="475824"/>
          </a:xfrm>
        </p:grpSpPr>
        <p:sp>
          <p:nvSpPr>
            <p:cNvPr id="65" name="Isosceles Triangle 64"/>
            <p:cNvSpPr/>
            <p:nvPr/>
          </p:nvSpPr>
          <p:spPr>
            <a:xfrm rot="16200000">
              <a:off x="4438997" y="4402098"/>
              <a:ext cx="274542" cy="286888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" name="Group 65"/>
            <p:cNvGrpSpPr/>
            <p:nvPr/>
          </p:nvGrpSpPr>
          <p:grpSpPr>
            <a:xfrm>
              <a:off x="4666811" y="4206989"/>
              <a:ext cx="1489364" cy="348481"/>
              <a:chOff x="274324" y="3849658"/>
              <a:chExt cx="1489364" cy="348481"/>
            </a:xfrm>
          </p:grpSpPr>
          <p:sp>
            <p:nvSpPr>
              <p:cNvPr id="67" name="Line 13"/>
              <p:cNvSpPr>
                <a:spLocks noChangeShapeType="1"/>
              </p:cNvSpPr>
              <p:nvPr/>
            </p:nvSpPr>
            <p:spPr bwMode="auto">
              <a:xfrm rot="16200000" flipH="1" flipV="1">
                <a:off x="1040493" y="3474944"/>
                <a:ext cx="9927" cy="1436463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 type="none"/>
                <a:tailEnd type="none" w="med" len="med"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274324" y="3849658"/>
                <a:ext cx="1190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/>
                  <a:t>Tên quan hệ</a:t>
                </a:r>
                <a:endParaRPr lang="vi-VN" sz="1600"/>
              </a:p>
            </p:txBody>
          </p:sp>
        </p:grpSp>
      </p:grpSp>
      <p:sp>
        <p:nvSpPr>
          <p:cNvPr id="69" name="Rectangle 68"/>
          <p:cNvSpPr/>
          <p:nvPr/>
        </p:nvSpPr>
        <p:spPr bwMode="auto">
          <a:xfrm>
            <a:off x="6732240" y="3471146"/>
            <a:ext cx="2016224" cy="4424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>
                <a:solidFill>
                  <a:schemeClr val="tx1"/>
                </a:solidFill>
              </a:rPr>
              <a:t>Quan hệ đặc biệt hóa /Tổng quát hóa</a:t>
            </a:r>
            <a:endParaRPr lang="vi-VN" sz="1600">
              <a:solidFill>
                <a:schemeClr val="tx1"/>
              </a:solidFill>
            </a:endParaRPr>
          </a:p>
        </p:txBody>
      </p:sp>
      <p:sp>
        <p:nvSpPr>
          <p:cNvPr id="70" name="TextBox 102"/>
          <p:cNvSpPr txBox="1">
            <a:spLocks noChangeArrowheads="1"/>
          </p:cNvSpPr>
          <p:nvPr/>
        </p:nvSpPr>
        <p:spPr bwMode="auto">
          <a:xfrm>
            <a:off x="185542" y="1921208"/>
            <a:ext cx="3621106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FF0000"/>
                </a:solidFill>
              </a:rPr>
              <a:t>Ký hiệu</a:t>
            </a:r>
          </a:p>
        </p:txBody>
      </p:sp>
      <p:sp>
        <p:nvSpPr>
          <p:cNvPr id="71" name="TextBox 102"/>
          <p:cNvSpPr txBox="1">
            <a:spLocks noChangeArrowheads="1"/>
          </p:cNvSpPr>
          <p:nvPr/>
        </p:nvSpPr>
        <p:spPr bwMode="auto">
          <a:xfrm>
            <a:off x="224567" y="4333579"/>
            <a:ext cx="1002082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FF0000"/>
                </a:solidFill>
              </a:rPr>
              <a:t>Ví dụ </a:t>
            </a:r>
          </a:p>
        </p:txBody>
      </p:sp>
      <p:graphicFrame>
        <p:nvGraphicFramePr>
          <p:cNvPr id="72" name="Table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182450"/>
              </p:ext>
            </p:extLst>
          </p:nvPr>
        </p:nvGraphicFramePr>
        <p:xfrm>
          <a:off x="1565248" y="4457404"/>
          <a:ext cx="1648976" cy="1337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22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NHAN_VIEN</a:t>
                      </a:r>
                      <a:endParaRPr lang="vi-V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295">
                <a:tc>
                  <a:txBody>
                    <a:bodyPr/>
                    <a:lstStyle/>
                    <a:p>
                      <a:r>
                        <a:rPr lang="en-US" sz="1200">
                          <a:latin typeface="Arial" pitchFamily="34" charset="0"/>
                          <a:cs typeface="Arial" pitchFamily="34" charset="0"/>
                        </a:rPr>
                        <a:t>Ho_ten,</a:t>
                      </a:r>
                      <a:r>
                        <a:rPr lang="en-US" sz="1200" baseline="0">
                          <a:latin typeface="Arial" pitchFamily="34" charset="0"/>
                          <a:cs typeface="Arial" pitchFamily="34" charset="0"/>
                        </a:rPr>
                        <a:t> Gioi_tinh, CMND,Ngay_sinh, Dia_chi</a:t>
                      </a:r>
                      <a:endParaRPr lang="vi-VN" sz="12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502">
                <a:tc>
                  <a:txBody>
                    <a:bodyPr/>
                    <a:lstStyle/>
                    <a:p>
                      <a:r>
                        <a:rPr lang="en-US" sz="120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endParaRPr lang="vi-VN" sz="12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792443"/>
              </p:ext>
            </p:extLst>
          </p:nvPr>
        </p:nvGraphicFramePr>
        <p:xfrm>
          <a:off x="4229544" y="4502218"/>
          <a:ext cx="1224136" cy="1026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45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DON_VI</a:t>
                      </a:r>
                      <a:endParaRPr lang="vi-V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r>
                        <a:rPr lang="en-US" sz="1200">
                          <a:latin typeface="Arial" pitchFamily="34" charset="0"/>
                          <a:cs typeface="Arial" pitchFamily="34" charset="0"/>
                        </a:rPr>
                        <a:t>Ten</a:t>
                      </a:r>
                      <a:endParaRPr lang="vi-VN" sz="12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108">
                <a:tc>
                  <a:txBody>
                    <a:bodyPr/>
                    <a:lstStyle/>
                    <a:p>
                      <a:endParaRPr lang="vi-VN" sz="12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4" name="Group 22"/>
          <p:cNvGrpSpPr>
            <a:grpSpLocks/>
          </p:cNvGrpSpPr>
          <p:nvPr/>
        </p:nvGrpSpPr>
        <p:grpSpPr bwMode="auto">
          <a:xfrm>
            <a:off x="3250424" y="4733716"/>
            <a:ext cx="953640" cy="387350"/>
            <a:chOff x="290693" y="3839732"/>
            <a:chExt cx="1472995" cy="386397"/>
          </a:xfrm>
        </p:grpSpPr>
        <p:grpSp>
          <p:nvGrpSpPr>
            <p:cNvPr id="75" name="Group 23"/>
            <p:cNvGrpSpPr>
              <a:grpSpLocks/>
            </p:cNvGrpSpPr>
            <p:nvPr/>
          </p:nvGrpSpPr>
          <p:grpSpPr bwMode="auto">
            <a:xfrm>
              <a:off x="290693" y="3856797"/>
              <a:ext cx="1472995" cy="369332"/>
              <a:chOff x="290693" y="4007048"/>
              <a:chExt cx="1472995" cy="369332"/>
            </a:xfrm>
          </p:grpSpPr>
          <p:sp>
            <p:nvSpPr>
              <p:cNvPr id="77" name="Line 13"/>
              <p:cNvSpPr>
                <a:spLocks noChangeShapeType="1"/>
              </p:cNvSpPr>
              <p:nvPr/>
            </p:nvSpPr>
            <p:spPr bwMode="auto">
              <a:xfrm rot="-5400000" flipH="1" flipV="1">
                <a:off x="1035531" y="3620232"/>
                <a:ext cx="19852" cy="1436463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TextBox 30"/>
              <p:cNvSpPr txBox="1">
                <a:spLocks noChangeArrowheads="1"/>
              </p:cNvSpPr>
              <p:nvPr/>
            </p:nvSpPr>
            <p:spPr bwMode="auto">
              <a:xfrm>
                <a:off x="290693" y="4007048"/>
                <a:ext cx="34204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b="1">
                    <a:latin typeface="Calibri" pitchFamily="34" charset="0"/>
                  </a:rPr>
                  <a:t>*</a:t>
                </a:r>
                <a:endParaRPr lang="vi-VN" b="1"/>
              </a:p>
            </p:txBody>
          </p:sp>
        </p:grpSp>
        <p:sp>
          <p:nvSpPr>
            <p:cNvPr id="76" name="TextBox 28"/>
            <p:cNvSpPr txBox="1">
              <a:spLocks noChangeArrowheads="1"/>
            </p:cNvSpPr>
            <p:nvPr/>
          </p:nvSpPr>
          <p:spPr bwMode="auto">
            <a:xfrm>
              <a:off x="519955" y="3839732"/>
              <a:ext cx="1190833" cy="337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vi-VN" sz="1600"/>
            </a:p>
          </p:txBody>
        </p:sp>
      </p:grpSp>
      <p:graphicFrame>
        <p:nvGraphicFramePr>
          <p:cNvPr id="79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065193"/>
              </p:ext>
            </p:extLst>
          </p:nvPr>
        </p:nvGraphicFramePr>
        <p:xfrm>
          <a:off x="6245514" y="4500195"/>
          <a:ext cx="1533863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846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CONG_TY</a:t>
                      </a:r>
                      <a:endParaRPr lang="vi-V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571">
                <a:tc>
                  <a:txBody>
                    <a:bodyPr/>
                    <a:lstStyle/>
                    <a:p>
                      <a:r>
                        <a:rPr lang="en-US" sz="1200">
                          <a:latin typeface="Arial" pitchFamily="34" charset="0"/>
                          <a:cs typeface="Arial" pitchFamily="34" charset="0"/>
                        </a:rPr>
                        <a:t>Ten, Tuoi_toi_thieu, Tuoi_toi_da </a:t>
                      </a:r>
                      <a:endParaRPr lang="vi-VN" sz="12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462">
                <a:tc>
                  <a:txBody>
                    <a:bodyPr/>
                    <a:lstStyle/>
                    <a:p>
                      <a:endParaRPr lang="vi-VN" sz="12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211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5" grpId="0"/>
      <p:bldP spid="63" grpId="0"/>
      <p:bldP spid="6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7275</TotalTime>
  <Words>108</Words>
  <Application>Microsoft Office PowerPoint</Application>
  <PresentationFormat>On-screen Show (4:3)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huy</dc:creator>
  <cp:lastModifiedBy>nth_Giangday</cp:lastModifiedBy>
  <cp:revision>158</cp:revision>
  <dcterms:created xsi:type="dcterms:W3CDTF">2010-11-07T07:20:10Z</dcterms:created>
  <dcterms:modified xsi:type="dcterms:W3CDTF">2025-03-01T06:09:42Z</dcterms:modified>
</cp:coreProperties>
</file>